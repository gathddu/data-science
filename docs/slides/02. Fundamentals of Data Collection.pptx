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60" r:id="rId16"/>
    <p:sldId id="261" r:id="rId17"/>
    <p:sldId id="262" r:id="rId11"/>
    <p:sldId id="263" r:id="rId18"/>
    <p:sldId id="264" r:id="rId12"/>
    <p:sldId id="265" r:id="rId19"/>
    <p:sldId id="266" r:id="rId20"/>
    <p:sldId id="267" r:id="rId13"/>
    <p:sldId id="268" r:id="rId21"/>
    <p:sldId id="269" r:id="rId14"/>
    <p:sldId id="270" r:id="rId22"/>
    <p:sldId id="271" r:id="rId23"/>
    <p:sldId id="272" r:id="rId15"/>
    <p:sldId id="258" r:id="rId7"/>
    <p:sldId id="273" r:id="rId24"/>
    <p:sldId id="274" r:id="rId25"/>
    <p:sldId id="275" r:id="rId26"/>
    <p:sldId id="276" r:id="rId27"/>
    <p:sldId id="277" r:id="rId28"/>
    <p:sldId id="278" r:id="rId29"/>
    <p:sldId id="259" r:id="rId8"/>
  </p:sldIdLst>
  <p:sldSz cy="5143500" cx="9144000"/>
  <p:notesSz cx="6858000" cy="9144000"/>
  <p:embeddedFontLst>
    <p:embeddedFont>
      <p:font typeface="Tahoma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10" Type="http://schemas.openxmlformats.org/officeDocument/2006/relationships/font" Target="fonts/Tahoma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Tahoma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500"/>
              <a:buFont typeface="Tahoma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500"/>
              <a:buFont typeface="Tahoma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2" name="Google Shape;42;p6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 rot="5400000">
            <a:off x="2869200" y="-1169694"/>
            <a:ext cx="34056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  <a:defRPr b="1" i="0" sz="2400" u="none" cap="none" strike="noStrik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75927" l="62821" r="3833" t="0"/>
          <a:stretch/>
        </p:blipFill>
        <p:spPr>
          <a:xfrm>
            <a:off x="6765326" y="0"/>
            <a:ext cx="2310714" cy="93911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4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4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4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4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4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4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4.png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5720"/>
            <a:ext cx="9225213" cy="519345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TitleBox"/>
          <p:cNvSpPr txBox="1"/>
          <p:nvPr/>
        </p:nvSpPr>
        <p:spPr>
          <a:xfrm>
            <a:off x="1000000" y="1300000"/>
            <a:ext cx="7000000" cy="14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Fundamentos de Coleta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de Dados</a:t>
            </a:r>
          </a:p>
        </p:txBody>
      </p:sp>
      <p:sp>
        <p:nvSpPr>
          <p:cNvPr id="202" name="SubtitleBox"/>
          <p:cNvSpPr txBox="1"/>
          <p:nvPr/>
        </p:nvSpPr>
        <p:spPr>
          <a:xfrm>
            <a:off x="1000000" y="2900000"/>
            <a:ext cx="6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E040A0"/>
                </a:solidFill>
                <a:latin typeface="Tahoma"/>
                <a:ea typeface="Tahoma"/>
                <a:cs typeface="Tahoma"/>
              </a:rPr>
              <a:t>Ciência de Dados | CEUB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100000" y="3000000"/>
            <a:ext cx="280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O que é Coleta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de Dados?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r>
              <a:rPr lang="pt-BR" sz="2800" b="1">
                <a:solidFill>
                  <a:srgbClr val="4A004A"/>
                </a:solidFill>
                <a:latin typeface="Tahoma"/>
              </a:rPr>
              <a:t>Ferramentas e Tecnologias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pt-BR" sz="2000" b="1">
                <a:solidFill>
                  <a:srgbClr val="8B008B"/>
                </a:solidFill>
                <a:latin typeface="Tahoma"/>
              </a:rPr>
              <a:t>Surveys e Formulaários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Google Forms, SurveyMonkey, Qualtrics</a:t>
            </a:r>
          </a:p>
          <a:p>
            <a:pPr indent="0" lvl="0" marL="0" rtl="0" algn="l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pt-BR" sz="2000" b="1">
                <a:solidFill>
                  <a:srgbClr val="8B008B"/>
                </a:solidFill>
                <a:latin typeface="Tahoma"/>
              </a:rPr>
              <a:t>Programação e Web Scraping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Python: BeautifulSoup, Scrapy, Requests, Pandas</a:t>
            </a:r>
          </a:p>
          <a:p>
            <a:pPr indent="0" lvl="0" marL="0" rtl="0" algn="l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pt-BR" sz="2000" b="1">
                <a:solidFill>
                  <a:srgbClr val="8B008B"/>
                </a:solidFill>
                <a:latin typeface="Tahoma"/>
              </a:rPr>
              <a:t>Bancos de Dados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SQL: MySQL, PostgreSQL | NoSQL: MongoDB, Cassandra</a:t>
            </a:r>
          </a:p>
          <a:p>
            <a:pPr indent="0" lvl="0" marL="0" rtl="0" algn="l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pt-BR" sz="2000" b="1">
                <a:solidFill>
                  <a:srgbClr val="8B008B"/>
                </a:solidFill>
                <a:latin typeface="Tahoma"/>
              </a:rPr>
              <a:t>Plataformas de Streaming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Apache Kafka, Apache Spark, AWS Kinesis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532" y="-1"/>
            <a:ext cx="9222378" cy="5186978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ThankYouBox"/>
          <p:cNvSpPr txBox="1"/>
          <p:nvPr/>
        </p:nvSpPr>
        <p:spPr>
          <a:xfrm>
            <a:off x="2500000" y="3800000"/>
            <a:ext cx="41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Referências</a:t>
            </a:r>
          </a:p>
        </p:txBody>
      </p:sp>
      <p:sp>
        <p:nvSpPr>
          <p:cNvPr id="302" name="RefsBox"/>
          <p:cNvSpPr txBox="1"/>
          <p:nvPr/>
        </p:nvSpPr>
        <p:spPr>
          <a:xfrm>
            <a:off x="1200000" y="4450000"/>
            <a:ext cx="67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D0A0C0"/>
                </a:solidFill>
                <a:latin typeface="Tahoma"/>
                <a:ea typeface="Tahoma"/>
                <a:cs typeface="Tahoma"/>
              </a:rPr>
              <a:t>DATABRICKS. O que é coleta de dados? 2024. | CEUB. Coleta de Dados para Ciência de Dados. 2024.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100000" y="3000000"/>
            <a:ext cx="280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Tipos de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Dados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100000" y="3000000"/>
            <a:ext cx="280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Métodos de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Coleta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100000" y="3000000"/>
            <a:ext cx="280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Processo de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Coleta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100000" y="3000000"/>
            <a:ext cx="280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Desafios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e Ética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100000" y="3000000"/>
            <a:ext cx="280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Ferramentas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e Tecnologias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r>
              <a:rPr lang="pt-BR" sz="2800" b="1">
                <a:solidFill>
                  <a:srgbClr val="4A004A"/>
                </a:solidFill>
                <a:latin typeface="Tahoma"/>
              </a:rPr>
              <a:t>O que é Coleta de Dados?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1800" b="0">
                <a:solidFill>
                  <a:srgbClr val="3F3F3F"/>
                </a:solidFill>
                <a:latin typeface="Tahoma"/>
              </a:rPr>
              <a:t>É o processo sistemático de reunir dados brutos de diversas fontes para análise e geração de insights. É a base de toda tomada de decisão orientada por dados.</a:t>
            </a: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rgbClr val="8B008B"/>
                </a:solidFill>
                <a:latin typeface="Tahoma"/>
              </a:rPr>
              <a:t>Por que é importante?</a:t>
            </a:r>
          </a:p>
          <a:p>
            <a:pPr indent="0" lvl="0" marL="20000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Tomada de decisões informadas com base em evidências</a:t>
            </a:r>
          </a:p>
          <a:p>
            <a:pPr indent="0" lvl="0" marL="20000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Identificação de padrões e tendências ocultas</a:t>
            </a:r>
          </a:p>
          <a:p>
            <a:pPr indent="0" lvl="0" marL="20000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Construção de modelos preditivos confiáveis</a:t>
            </a:r>
          </a:p>
          <a:p>
            <a:pPr indent="0" lvl="0" marL="20000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Validação de hipóteses científicas e de negócios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r>
              <a:rPr lang="pt-BR" sz="2800" b="1">
                <a:solidFill>
                  <a:srgbClr val="4A004A"/>
                </a:solidFill>
                <a:latin typeface="Tahoma"/>
              </a:rPr>
              <a:t>O Pipeline de Dados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Os dados seguem um fluxo estruturado antes de gerar valor:</a:t>
            </a:r>
          </a:p>
          <a:p>
            <a:pPr indent="0" lvl="0" marL="2000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2185B"/>
                </a:solidFill>
                <a:latin typeface="Tahoma"/>
              </a:rPr>
              <a:t xml:space="preserve">1. Coleta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>→ Reunir dados brutos de fontes diversas</a:t>
            </a:r>
          </a:p>
          <a:p>
            <a:pPr indent="0" lvl="0" marL="2000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2185B"/>
                </a:solidFill>
                <a:latin typeface="Tahoma"/>
              </a:rPr>
              <a:t xml:space="preserve">2. Ingestão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>→ Transporte e recebimento dos dados</a:t>
            </a:r>
          </a:p>
          <a:p>
            <a:pPr indent="0" lvl="0" marL="2000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2185B"/>
                </a:solidFill>
                <a:latin typeface="Tahoma"/>
              </a:rPr>
              <a:t xml:space="preserve">3. Armazenamento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>→ Persistência em bancos ou data lakes</a:t>
            </a:r>
          </a:p>
          <a:p>
            <a:pPr indent="0" lvl="0" marL="2000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2185B"/>
                </a:solidFill>
                <a:latin typeface="Tahoma"/>
              </a:rPr>
              <a:t xml:space="preserve">4. Ativação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>→ Uso para análise, BI e modelos de ML</a:t>
            </a: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 b="0" i="1">
                <a:solidFill>
                  <a:srgbClr val="888888"/>
                </a:solidFill>
                <a:latin typeface="Tahoma"/>
              </a:rPr>
              <a:t>Diferença: Coleta = “o quê”; Ingestão = “como”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r>
              <a:rPr lang="pt-BR" sz="2800" b="1">
                <a:solidFill>
                  <a:srgbClr val="4A004A"/>
                </a:solidFill>
                <a:latin typeface="Tahoma"/>
              </a:rPr>
              <a:t>Tipos de Dados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2000" b="1">
                <a:solidFill>
                  <a:srgbClr val="8B008B"/>
                </a:solidFill>
                <a:latin typeface="Tahoma"/>
              </a:rPr>
              <a:t>Dados Qualitativos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Descrevem qualidades ou características (ex: opiniões, cores, categorias)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Métodos: entrevistas, grupos focais, observação</a:t>
            </a: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pt-BR" sz="2000" b="1">
                <a:solidFill>
                  <a:srgbClr val="8B008B"/>
                </a:solidFill>
                <a:latin typeface="Tahoma"/>
              </a:rPr>
              <a:t>Dados Quantitativos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Representam quantidades mensuráveis (ex: altura, vendas, temperatura)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Métodos: questionários, sensores, experimentos, APIs</a:t>
            </a: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 b="0" i="1">
                <a:solidFill>
                  <a:srgbClr val="888888"/>
                </a:solidFill>
                <a:latin typeface="Tahoma"/>
              </a:rPr>
              <a:t>Abordagem mista combina os dois tipos para maior riqueza analítica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r>
              <a:rPr lang="pt-BR" sz="2800" b="1">
                <a:solidFill>
                  <a:srgbClr val="4A004A"/>
                </a:solidFill>
                <a:latin typeface="Tahoma"/>
              </a:rPr>
              <a:t>Métodos Primários e Secundários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pt-BR" sz="2000" b="1">
                <a:solidFill>
                  <a:srgbClr val="8B008B"/>
                </a:solidFill>
                <a:latin typeface="Tahoma"/>
              </a:rPr>
              <a:t>Métodos Primários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Surveys e questionários: coleta direta de opiniões e preferências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Entrevistas: estruturadas, semiestruturadas ou não estruturadas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Experimentos controlados e testes A/B</a:t>
            </a: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150"/>
              </a:spcAft>
              <a:buNone/>
            </a:pPr>
            <a:r>
              <a:rPr lang="pt-BR" sz="2000" b="1">
                <a:solidFill>
                  <a:srgbClr val="8B008B"/>
                </a:solidFill>
                <a:latin typeface="Tahoma"/>
              </a:rPr>
              <a:t>Métodos Secundários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Fontes internas: logs de sistemas, bancos de dados corporativos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Fontes externas: datasets públicos, relatórios governamentais, estudos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r>
              <a:rPr lang="pt-BR" sz="2800" b="1">
                <a:solidFill>
                  <a:srgbClr val="4A004A"/>
                </a:solidFill>
                <a:latin typeface="Tahoma"/>
              </a:rPr>
              <a:t>Métodos Automatizados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pt-BR" sz="2000" b="1">
                <a:solidFill>
                  <a:srgbClr val="8B008B"/>
                </a:solidFill>
                <a:latin typeface="Tahoma"/>
              </a:rPr>
              <a:t>IoT e Sensores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Dispositivos conectados coletam dados em tempo real continuamente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Exemplos: wearables, smart cities, indústria 4.0</a:t>
            </a:r>
          </a:p>
          <a:p>
            <a:pPr indent="0" lvl="0" marL="0" rtl="0" algn="l">
              <a:lnSpc>
                <a:spcPct val="90000"/>
              </a:lnSpc>
              <a:spcBef>
                <a:spcPts val="350"/>
              </a:spcBef>
              <a:spcAft>
                <a:spcPts val="150"/>
              </a:spcAft>
              <a:buNone/>
            </a:pPr>
            <a:r>
              <a:rPr lang="pt-BR" sz="2000" b="1">
                <a:solidFill>
                  <a:srgbClr val="8B008B"/>
                </a:solidFill>
                <a:latin typeface="Tahoma"/>
              </a:rPr>
              <a:t>Web Scraping e APIs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Web scraping: extração automatizada de sites (BeautifulSoup, Scrapy)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APIs: acesso programado a dados de plataformas (Twitter, Google, Open Data)</a:t>
            </a:r>
          </a:p>
          <a:p>
            <a:pPr indent="0" lvl="0" marL="0" rtl="0" algn="l">
              <a:lnSpc>
                <a:spcPct val="9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pt-BR" sz="1600" b="0" i="1">
                <a:solidFill>
                  <a:srgbClr val="888888"/>
                </a:solidFill>
                <a:latin typeface="Tahoma"/>
              </a:rPr>
              <a:t>Tendência: coleta em tempo real (streaming) com Apache Kafka e Spark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r>
              <a:rPr lang="pt-BR" sz="2800" b="1">
                <a:solidFill>
                  <a:srgbClr val="4A004A"/>
                </a:solidFill>
                <a:latin typeface="Tahoma"/>
              </a:rPr>
              <a:t>O Processo de Coleta: 4 Etapas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200000" rtl="0"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1900" b="1">
                <a:solidFill>
                  <a:srgbClr val="C2185B"/>
                </a:solidFill>
                <a:latin typeface="Tahoma"/>
              </a:rPr>
              <a:t xml:space="preserve">1. Planejamento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>— Definir objetivos, fontes e métodos adequados</a:t>
            </a:r>
          </a:p>
          <a:p>
            <a:pPr indent="0" lvl="0" marL="200000" rtl="0" algn="l">
              <a:lnSpc>
                <a:spcPct val="900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pt-BR" sz="1900" b="1">
                <a:solidFill>
                  <a:srgbClr val="C2185B"/>
                </a:solidFill>
                <a:latin typeface="Tahoma"/>
              </a:rPr>
              <a:t xml:space="preserve">2. Implementação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>— Executar a coleta com as ferramentas escolhidas</a:t>
            </a:r>
          </a:p>
          <a:p>
            <a:pPr indent="0" lvl="0" marL="200000" rtl="0" algn="l">
              <a:lnSpc>
                <a:spcPct val="900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pt-BR" sz="1900" b="1">
                <a:solidFill>
                  <a:srgbClr val="C2185B"/>
                </a:solidFill>
                <a:latin typeface="Tahoma"/>
              </a:rPr>
              <a:t xml:space="preserve">3. Garantia de Qualidade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>— Validar completude, precisão e consistência</a:t>
            </a:r>
          </a:p>
          <a:p>
            <a:pPr indent="0" lvl="0" marL="2000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pt-BR" sz="1900" b="1">
                <a:solidFill>
                  <a:srgbClr val="C2185B"/>
                </a:solidFill>
                <a:latin typeface="Tahoma"/>
              </a:rPr>
              <a:t xml:space="preserve">4. Documentação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>— Registrar procedimentos e metadados para rastreabilidade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r>
              <a:rPr lang="pt-BR" sz="2800" b="1">
                <a:solidFill>
                  <a:srgbClr val="4A004A"/>
                </a:solidFill>
                <a:latin typeface="Tahoma"/>
              </a:rPr>
              <a:t>Desafios na Coleta de Dados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2000" b="1">
                <a:solidFill>
                  <a:srgbClr val="8B008B"/>
                </a:solidFill>
                <a:latin typeface="Tahoma"/>
              </a:rPr>
              <a:t>4 Principais Desafios</a:t>
            </a:r>
          </a:p>
          <a:p>
            <a:pPr indent="0" lvl="0" marL="2000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2185B"/>
                </a:solidFill>
                <a:latin typeface="Tahoma"/>
              </a:rPr>
              <a:t xml:space="preserve">Qualidade: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>dados incompletos, inconsistentes ou enviesados comprometem análises</a:t>
            </a:r>
          </a:p>
          <a:p>
            <a:pPr indent="0" lvl="0" marL="2000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2185B"/>
                </a:solidFill>
                <a:latin typeface="Tahoma"/>
              </a:rPr>
              <a:t xml:space="preserve">Privacidade e Conformidade: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>LGPD/GDPR exigem consentimento e proteção de dados pessoais</a:t>
            </a:r>
          </a:p>
          <a:p>
            <a:pPr indent="0" lvl="0" marL="2000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2185B"/>
                </a:solidFill>
                <a:latin typeface="Tahoma"/>
              </a:rPr>
              <a:t xml:space="preserve">Escalabilidade: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>grandes volumes exigem infraestrutura distribuída e performante</a:t>
            </a:r>
          </a:p>
          <a:p>
            <a:pPr indent="0" lvl="0" marL="2000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2185B"/>
                </a:solidFill>
                <a:latin typeface="Tahoma"/>
              </a:rPr>
              <a:t xml:space="preserve">Complexidade: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>integrar múltiplas fontes heterogêneas requer padronização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r>
              <a:rPr lang="pt-BR" sz="2800" b="1">
                <a:solidFill>
                  <a:srgbClr val="4A004A"/>
                </a:solidFill>
                <a:latin typeface="Tahoma"/>
              </a:rPr>
              <a:t>Ética na Coleta de Dados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2000" b="1">
                <a:solidFill>
                  <a:srgbClr val="8B008B"/>
                </a:solidFill>
                <a:latin typeface="Tahoma"/>
              </a:rPr>
              <a:t>Princípios Fundamentais</a:t>
            </a:r>
          </a:p>
          <a:p>
            <a:pPr indent="0" lvl="0" marL="20000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•"/>
            </a:pPr>
            <a:r>
              <a:rPr lang="pt-BR" sz="1800" b="1">
                <a:solidFill>
                  <a:srgbClr val="C2185B"/>
                </a:solidFill>
                <a:latin typeface="Tahoma"/>
              </a:rPr>
              <a:t xml:space="preserve">Consentimento Informado: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>participantes devem conhecer e concordar com o uso de seus dados</a:t>
            </a:r>
          </a:p>
          <a:p>
            <a:pPr indent="0" lvl="0" marL="20000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•"/>
            </a:pPr>
            <a:r>
              <a:rPr lang="pt-BR" sz="1800" b="1">
                <a:solidFill>
                  <a:srgbClr val="C2185B"/>
                </a:solidFill>
                <a:latin typeface="Tahoma"/>
              </a:rPr>
              <a:t xml:space="preserve">Privacidade e Confidencialidade: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>anonimizar dados sensíveis e proteger identidades</a:t>
            </a:r>
          </a:p>
          <a:p>
            <a:pPr indent="0" lvl="0" marL="20000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•"/>
            </a:pPr>
            <a:r>
              <a:rPr lang="pt-BR" sz="1800" b="1">
                <a:solidFill>
                  <a:srgbClr val="C2185B"/>
                </a:solidFill>
                <a:latin typeface="Tahoma"/>
              </a:rPr>
              <a:t xml:space="preserve">Minimização de Dados: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>coletar apenas o que é necessário para o objetivo definido</a:t>
            </a:r>
          </a:p>
          <a:p>
            <a:pPr indent="0" lvl="0" marL="20000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•"/>
            </a:pPr>
            <a:r>
              <a:rPr lang="pt-BR" sz="1800" b="1">
                <a:solidFill>
                  <a:srgbClr val="C2185B"/>
                </a:solidFill>
                <a:latin typeface="Tahoma"/>
              </a:rPr>
              <a:t xml:space="preserve">Segurança dos Dados: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>criptografia, controle de acesso e prevenção de vazamentos</a:t>
            </a:r>
          </a:p>
          <a:p>
            <a:pPr indent="0" lvl="0" marL="0" rtl="0" algn="l">
              <a:lnSpc>
                <a:spcPct val="9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pt-BR" sz="1600" b="0" i="1">
                <a:solidFill>
                  <a:srgbClr val="888888"/>
                </a:solidFill>
                <a:latin typeface="Tahoma"/>
              </a:rPr>
              <a:t>No Brasil: Lei Geral de Proteção de Dados (LGPD - Lei 13.709/2018)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100000" y="3000000"/>
            <a:ext cx="280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Casos de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Negócio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r>
              <a:rPr lang="pt-BR" sz="2800" b="1">
                <a:solidFill>
                  <a:srgbClr val="4A004A"/>
                </a:solidFill>
                <a:latin typeface="Tahoma"/>
              </a:rPr>
              <a:t>Caso 1: E-commerce — Personalização de Recomendações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2000" b="1">
                <a:solidFill>
                  <a:srgbClr val="8B008B"/>
                </a:solidFill>
                <a:latin typeface="Tahoma"/>
              </a:rPr>
              <a:t>Contexto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Uma plataforma de e-commerce precisa recomendar produtos relevantes para cada cliente</a:t>
            </a:r>
          </a:p>
          <a:p>
            <a:pPr indent="0" lvl="0" marL="0" rtl="0" algn="l">
              <a:lnSpc>
                <a:spcPct val="90000"/>
              </a:lnSpc>
              <a:spcBef>
                <a:spcPts val="350"/>
              </a:spcBef>
              <a:spcAft>
                <a:spcPts val="200"/>
              </a:spcAft>
              <a:buNone/>
            </a:pPr>
            <a:r>
              <a:rPr lang="pt-BR" sz="2000" b="1">
                <a:solidFill>
                  <a:srgbClr val="8B008B"/>
                </a:solidFill>
                <a:latin typeface="Tahoma"/>
              </a:rPr>
              <a:t>Dados Coletados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1">
                <a:solidFill>
                  <a:srgbClr val="C2185B"/>
                </a:solidFill>
                <a:latin typeface="Tahoma"/>
              </a:rPr>
              <a:t xml:space="preserve">Comportamental: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 xml:space="preserve">clickstream, histórico de buscas e compras (método automatizado via logs)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1">
                <a:solidFill>
                  <a:srgbClr val="C2185B"/>
                </a:solidFill>
                <a:latin typeface="Tahoma"/>
              </a:rPr>
              <a:t xml:space="preserve">Demográfico: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 xml:space="preserve">cadastro e preferências (questionário no onboarding)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1">
                <a:solidFill>
                  <a:srgbClr val="C2185B"/>
                </a:solidFill>
                <a:latin typeface="Tahoma"/>
              </a:rPr>
              <a:t xml:space="preserve">Transacional: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 xml:space="preserve">valor médio de pedidos, frequência e sazonalidade</a:t>
            </a:r>
          </a:p>
          <a:p>
            <a:pPr indent="0" lvl="0" marL="0" rtl="0" algn="l">
              <a:lnSpc>
                <a:spcPct val="9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pt-BR" sz="1600" b="0" i="1">
                <a:solidFill>
                  <a:srgbClr val="888888"/>
                </a:solidFill>
                <a:latin typeface="Tahoma"/>
              </a:rPr>
              <a:t>Resultado: aumento de 35% na taxa de conversão com recomendações personalizadas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r>
              <a:rPr lang="pt-BR" sz="2800" b="1">
                <a:solidFill>
                  <a:srgbClr val="4A004A"/>
                </a:solidFill>
                <a:latin typeface="Tahoma"/>
              </a:rPr>
              <a:t>Caso 2: Saúde — Monitoramento de Pacientes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2000" b="1">
                <a:solidFill>
                  <a:srgbClr val="8B008B"/>
                </a:solidFill>
                <a:latin typeface="Tahoma"/>
              </a:rPr>
              <a:t>Contexto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Hospital inteligente usa IoT para monitorar pacientes críticos em tempo real</a:t>
            </a:r>
          </a:p>
          <a:p>
            <a:pPr indent="0" lvl="0" marL="0" rtl="0" algn="l">
              <a:lnSpc>
                <a:spcPct val="90000"/>
              </a:lnSpc>
              <a:spcBef>
                <a:spcPts val="350"/>
              </a:spcBef>
              <a:spcAft>
                <a:spcPts val="200"/>
              </a:spcAft>
              <a:buNone/>
            </a:pPr>
            <a:r>
              <a:rPr lang="pt-BR" sz="2000" b="1">
                <a:solidFill>
                  <a:srgbClr val="8B008B"/>
                </a:solidFill>
                <a:latin typeface="Tahoma"/>
              </a:rPr>
              <a:t>Dados Coletados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1">
                <a:solidFill>
                  <a:srgbClr val="C2185B"/>
                </a:solidFill>
                <a:latin typeface="Tahoma"/>
              </a:rPr>
              <a:t xml:space="preserve">IoT/Sensores: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 xml:space="preserve">freq. cardíaca, pressão, oximetria via wearables e monitores (streaming contínuo)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1">
                <a:solidFill>
                  <a:srgbClr val="C2185B"/>
                </a:solidFill>
                <a:latin typeface="Tahoma"/>
              </a:rPr>
              <a:t xml:space="preserve">Formulários: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 xml:space="preserve">anamnese, evolução clínica e prescrições médicas (primário)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1">
                <a:solidFill>
                  <a:srgbClr val="C2185B"/>
                </a:solidFill>
                <a:latin typeface="Tahoma"/>
              </a:rPr>
              <a:t xml:space="preserve">Secundário: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 xml:space="preserve">histórico de internações, exames e prontuários eletrônicos</a:t>
            </a:r>
          </a:p>
          <a:p>
            <a:pPr indent="0" lvl="0" marL="0" rtl="0" algn="l">
              <a:lnSpc>
                <a:spcPct val="9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pt-BR" sz="1600" b="0" i="1">
                <a:solidFill>
                  <a:srgbClr val="888888"/>
                </a:solidFill>
                <a:latin typeface="Tahoma"/>
              </a:rPr>
              <a:t>Desafio ético: dados de saúde são sensíveis — exigem consentimento e criptografia rígidos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r>
              <a:rPr lang="pt-BR" sz="2800" b="1">
                <a:solidFill>
                  <a:srgbClr val="4A004A"/>
                </a:solidFill>
                <a:latin typeface="Tahoma"/>
              </a:rPr>
              <a:t>Caso 3: Finanças — Detecção de Fraudes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2000" b="1">
                <a:solidFill>
                  <a:srgbClr val="8B008B"/>
                </a:solidFill>
                <a:latin typeface="Tahoma"/>
              </a:rPr>
              <a:t>Contexto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0">
                <a:solidFill>
                  <a:srgbClr val="3F3F3F"/>
                </a:solidFill>
                <a:latin typeface="Tahoma"/>
              </a:rPr>
              <a:t>Fintech precisa identificar transações fraudulentas em milissegundos</a:t>
            </a:r>
          </a:p>
          <a:p>
            <a:pPr indent="0" lvl="0" marL="0" rtl="0" algn="l">
              <a:lnSpc>
                <a:spcPct val="90000"/>
              </a:lnSpc>
              <a:spcBef>
                <a:spcPts val="350"/>
              </a:spcBef>
              <a:spcAft>
                <a:spcPts val="200"/>
              </a:spcAft>
              <a:buNone/>
            </a:pPr>
            <a:r>
              <a:rPr lang="pt-BR" sz="2000" b="1">
                <a:solidFill>
                  <a:srgbClr val="8B008B"/>
                </a:solidFill>
                <a:latin typeface="Tahoma"/>
              </a:rPr>
              <a:t>Dados Coletados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1">
                <a:solidFill>
                  <a:srgbClr val="C2185B"/>
                </a:solidFill>
                <a:latin typeface="Tahoma"/>
              </a:rPr>
              <a:t xml:space="preserve">Streaming em tempo real: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 xml:space="preserve">valor, localização, IP e dispositivo de cada transação (Apache Kafka)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1">
                <a:solidFill>
                  <a:srgbClr val="C2185B"/>
                </a:solidFill>
                <a:latin typeface="Tahoma"/>
              </a:rPr>
              <a:t xml:space="preserve">Histórico: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 xml:space="preserve">padrões de comportamento do usuário (secundário, banco de dados interno)</a:t>
            </a:r>
          </a:p>
          <a:p>
            <a:pPr indent="0" lvl="0" marL="200000" rtl="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har char="•"/>
            </a:pPr>
            <a:r>
              <a:rPr lang="pt-BR" sz="1700" b="1">
                <a:solidFill>
                  <a:srgbClr val="C2185B"/>
                </a:solidFill>
                <a:latin typeface="Tahoma"/>
              </a:rPr>
              <a:t xml:space="preserve">Externo: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 xml:space="preserve">listas de CPFs/cartões em lista negra (API de burôs de crédito)</a:t>
            </a:r>
          </a:p>
          <a:p>
            <a:pPr indent="0" lvl="0" marL="0" rtl="0" algn="l">
              <a:lnSpc>
                <a:spcPct val="9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pt-BR" sz="1600" b="0" i="1">
                <a:solidFill>
                  <a:srgbClr val="888888"/>
                </a:solidFill>
                <a:latin typeface="Tahoma"/>
              </a:rPr>
              <a:t>Resultado: redução de 60% em fraudes com modelo treinado em dados em tempo real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100000" y="3000000"/>
            <a:ext cx="280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Exercício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Prático</a:t>
            </a:r>
            <a:endParaRPr sz="24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r>
              <a:rPr lang="pt-BR" sz="2800" b="1">
                <a:solidFill>
                  <a:srgbClr val="4A004A"/>
                </a:solidFill>
                <a:latin typeface="Tahoma"/>
              </a:rPr>
              <a:t>Exercício: Planejando a Coleta de Dados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1900" b="1">
                <a:solidFill>
                  <a:srgbClr val="8B008B"/>
                </a:solidFill>
                <a:latin typeface="Tahoma"/>
              </a:rPr>
              <a:t>Cenário:</a:t>
            </a:r>
            <a:r>
              <a:rPr lang="pt-BR" sz="1800" b="0">
                <a:solidFill>
                  <a:srgbClr val="3F3F3F"/>
                </a:solidFill>
                <a:latin typeface="Tahoma"/>
              </a:rPr>
              <a:t xml:space="preserve"> Um app de delivery quer reduzir o tempo médio de entrega.</a:t>
            </a:r>
          </a:p>
          <a:p>
            <a:pPr indent="0" lvl="0" marL="0" rtl="0" algn="l">
              <a:lnSpc>
                <a:spcPct val="90000"/>
              </a:lnSpc>
              <a:spcBef>
                <a:spcPts val="350"/>
              </a:spcBef>
              <a:spcAft>
                <a:spcPts val="200"/>
              </a:spcAft>
              <a:buNone/>
            </a:pPr>
            <a:r>
              <a:rPr lang="pt-BR" sz="1900" b="1">
                <a:solidFill>
                  <a:srgbClr val="8B008B"/>
                </a:solidFill>
                <a:latin typeface="Tahoma"/>
              </a:rPr>
              <a:t>Em grupos, responda:</a:t>
            </a:r>
          </a:p>
          <a:p>
            <a:pPr indent="0" lvl="0" marL="20000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▶"/>
            </a:pPr>
            <a:r>
              <a:rPr lang="pt-BR" sz="1700" b="1">
                <a:solidFill>
                  <a:srgbClr val="C2185B"/>
                </a:solidFill>
                <a:latin typeface="Tahoma"/>
              </a:rPr>
              <a:t xml:space="preserve">Quais dados você coletaria?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>(liste ao menos 5 variáveis relevantes)</a:t>
            </a:r>
          </a:p>
          <a:p>
            <a:pPr indent="0" lvl="0" marL="20000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▶"/>
            </a:pPr>
            <a:r>
              <a:rPr lang="pt-BR" sz="1700" b="1">
                <a:solidFill>
                  <a:srgbClr val="C2185B"/>
                </a:solidFill>
                <a:latin typeface="Tahoma"/>
              </a:rPr>
              <a:t xml:space="preserve">Qual método de coleta usar?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>(primário, secundário, IoT, API?)</a:t>
            </a:r>
          </a:p>
          <a:p>
            <a:pPr indent="0" lvl="0" marL="20000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▶"/>
            </a:pPr>
            <a:r>
              <a:rPr lang="pt-BR" sz="1700" b="1">
                <a:solidFill>
                  <a:srgbClr val="C2185B"/>
                </a:solidFill>
                <a:latin typeface="Tahoma"/>
              </a:rPr>
              <a:t xml:space="preserve">Que desafios você antecipa?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>(qualidade, privacidade, escala?)</a:t>
            </a:r>
          </a:p>
          <a:p>
            <a:pPr indent="0" lvl="0" marL="20000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har char="▶"/>
            </a:pPr>
            <a:r>
              <a:rPr lang="pt-BR" sz="1700" b="1">
                <a:solidFill>
                  <a:srgbClr val="C2185B"/>
                </a:solidFill>
                <a:latin typeface="Tahoma"/>
              </a:rPr>
              <a:t xml:space="preserve">Como garantir a ética? </a:t>
            </a:r>
            <a:r>
              <a:rPr lang="pt-BR" sz="1700" b="0">
                <a:solidFill>
                  <a:srgbClr val="3F3F3F"/>
                </a:solidFill>
                <a:latin typeface="Tahoma"/>
              </a:rPr>
              <a:t>(LGPD, consentimento, minimização)</a:t>
            </a:r>
          </a:p>
          <a:p>
            <a:pPr indent="0" lvl="0" marL="0" rtl="0" algn="l">
              <a:lnSpc>
                <a:spcPct val="90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pt-BR" sz="1600" b="0" i="1">
                <a:solidFill>
                  <a:srgbClr val="888888"/>
                </a:solidFill>
                <a:latin typeface="Tahoma"/>
              </a:rPr>
              <a:t>Apresente em 5 minutos: dados escolhidos, métodos e estratégia ética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