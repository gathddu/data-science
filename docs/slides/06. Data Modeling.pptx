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71" r:id="rId21"/>
    <p:sldId id="261" r:id="rId11"/>
    <p:sldId id="262" r:id="rId12"/>
    <p:sldId id="263" r:id="rId13"/>
    <p:sldId id="272" r:id="rId22"/>
    <p:sldId id="264" r:id="rId14"/>
    <p:sldId id="265" r:id="rId15"/>
    <p:sldId id="273" r:id="rId23"/>
    <p:sldId id="266" r:id="rId16"/>
    <p:sldId id="267" r:id="rId17"/>
    <p:sldId id="268" r:id="rId18"/>
    <p:sldId id="259" r:id="rId8"/>
  </p:sldIdLst>
  <p:sldSz cy="5143500" cx="9144000"/>
  <p:notesSz cx="6858000" cy="9144000"/>
  <p:embeddedFontLst>
    <p:embeddedFont>
      <p:font typeface="Tahoma"/>
      <p:regular r:id="rId9"/>
      <p:bold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?><Relationships xmlns="http://schemas.openxmlformats.org/package/2006/relationships"><Relationship Id="rId10" Type="http://schemas.openxmlformats.org/officeDocument/2006/relationships/font" Target="fonts/Tahoma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Tahoma-regular.fntdata"/><Relationship Id="rId5" Type="http://schemas.openxmlformats.org/officeDocument/2006/relationships/slide" Target="slides/slide1.xml"/><Relationship Id="rId8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500"/>
              <a:buFont typeface="Tahoma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628650" y="1070856"/>
            <a:ext cx="7886700" cy="3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500"/>
              <a:buFont typeface="Tahoma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2" name="Google Shape;42;p6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type="title"/>
          </p:nvPr>
        </p:nvSpPr>
        <p:spPr>
          <a:xfrm>
            <a:off x="629841" y="342900"/>
            <a:ext cx="29493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" type="body"/>
          </p:nvPr>
        </p:nvSpPr>
        <p:spPr>
          <a:xfrm>
            <a:off x="3887391" y="740569"/>
            <a:ext cx="46290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8" name="Google Shape;58;p9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9" name="Google Shape;59;p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629841" y="342900"/>
            <a:ext cx="29493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0"/>
          <p:cNvSpPr/>
          <p:nvPr>
            <p:ph idx="2" type="pic"/>
          </p:nvPr>
        </p:nvSpPr>
        <p:spPr>
          <a:xfrm>
            <a:off x="3887391" y="740569"/>
            <a:ext cx="46290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10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6" name="Google Shape;66;p1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" type="body"/>
          </p:nvPr>
        </p:nvSpPr>
        <p:spPr>
          <a:xfrm rot="5400000">
            <a:off x="2869200" y="-1169694"/>
            <a:ext cx="34056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  <a:defRPr b="1" i="0" sz="2400" u="none" cap="none" strike="noStrike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070856"/>
            <a:ext cx="7886700" cy="3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1">
            <a:alphaModFix/>
          </a:blip>
          <a:srcRect b="75927" l="62821" r="3833" t="0"/>
          <a:stretch/>
        </p:blipFill>
        <p:spPr>
          <a:xfrm>
            <a:off x="6765326" y="0"/>
            <a:ext cx="2310714" cy="93911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4.png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4.png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45720"/>
            <a:ext cx="9225213" cy="5193453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subtitle_tag"/>
          <p:cNvSpPr txBox="1"/>
          <p:nvPr/>
        </p:nvSpPr>
        <p:spPr>
          <a:xfrm>
            <a:off x="4800600" y="91440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="ctr" wrap="square" bIns="34275" lIns="68575" rIns="68575" tIns="34275">
            <a:noAutofit/>
          </a:bodyPr>
          <a:lstStyle/>
          <a:p>
            <a:pPr algn="r">
              <a:buNone/>
              <a:spcBef>
                <a:spcPts val="0"/>
              </a:spcBef>
              <a:spcAft>
                <a:spcPts val="0"/>
              </a:spcAft>
            </a:pPr>
            <a:r>
              <a:rPr lang="pt-BR" sz="1200" b="0" i="0" u="none">
                <a:solidFill>
                  <a:srgbClr val="E040FB"/>
                </a:solidFill>
                <a:latin typeface="Tahoma"/>
              </a:rPr>
              <a:t>DESAFIO PRÁTICO</a:t>
            </a:r>
          </a:p>
        </p:txBody>
      </p:sp>
      <p:sp>
        <p:nvSpPr>
          <p:cNvPr id="151" name="main_title"/>
          <p:cNvSpPr txBox="1"/>
          <p:nvPr/>
        </p:nvSpPr>
        <p:spPr>
          <a:xfrm>
            <a:off x="4800600" y="1371600"/>
            <a:ext cx="3886200" cy="1371600"/>
          </a:xfrm>
          <a:prstGeom prst="rect">
            <a:avLst/>
          </a:prstGeom>
          <a:noFill/>
          <a:ln>
            <a:noFill/>
          </a:ln>
        </p:spPr>
        <p:txBody>
          <a:bodyPr anchor="t" wrap="square" bIns="34275" lIns="68575" rIns="68575" tIns="34275">
            <a:noAutofit/>
          </a:bodyPr>
          <a:lstStyle/>
          <a:p>
            <a:pPr algn="r">
              <a:buNone/>
              <a:spcBef>
                <a:spcPts val="0"/>
              </a:spcBef>
              <a:spcAft>
                <a:spcPts val="200"/>
              </a:spcAft>
            </a:pPr>
            <a:r>
              <a:rPr lang="pt-BR" sz="3600" b="1" i="0" u="none">
                <a:solidFill>
                  <a:srgbClr val="FFFFFF"/>
                </a:solidFill>
                <a:latin typeface="Tahoma"/>
              </a:rPr>
              <a:t>Pipeline de</a:t>
            </a:r>
          </a:p>
          <a:p>
            <a:pPr algn="r">
              <a:buNone/>
              <a:spcBef>
                <a:spcPts val="0"/>
              </a:spcBef>
              <a:spcAft>
                <a:spcPts val="200"/>
              </a:spcAft>
            </a:pPr>
            <a:r>
              <a:rPr lang="pt-BR" sz="3600" b="1" i="0" u="none">
                <a:solidFill>
                  <a:srgbClr val="FFFFFF"/>
                </a:solidFill>
                <a:latin typeface="Tahoma"/>
              </a:rPr>
              <a:t>Dados</a:t>
            </a:r>
          </a:p>
        </p:txBody>
      </p:sp>
      <p:sp>
        <p:nvSpPr>
          <p:cNvPr id="152" name="subtitle"/>
          <p:cNvSpPr txBox="1"/>
          <p:nvPr/>
        </p:nvSpPr>
        <p:spPr>
          <a:xfrm>
            <a:off x="4800600" y="2800800"/>
            <a:ext cx="3886200" cy="685800"/>
          </a:xfrm>
          <a:prstGeom prst="rect">
            <a:avLst/>
          </a:prstGeom>
          <a:noFill/>
          <a:ln>
            <a:noFill/>
          </a:ln>
        </p:spPr>
        <p:txBody>
          <a:bodyPr anchor="t" wrap="square" bIns="34275" lIns="68575" rIns="68575" tIns="34275">
            <a:noAutofit/>
          </a:bodyPr>
          <a:lstStyle/>
          <a:p>
            <a:pPr algn="r">
              <a:buNone/>
              <a:spcBef>
                <a:spcPts val="0"/>
              </a:spcBef>
              <a:spcAft>
                <a:spcPts val="150"/>
              </a:spcAft>
            </a:pPr>
            <a:r>
              <a:rPr lang="pt-BR" sz="1400" b="0" i="0" u="none">
                <a:solidFill>
                  <a:srgbClr val="E0E0E0"/>
                </a:solidFill>
                <a:latin typeface="Tahoma"/>
              </a:rPr>
              <a:t>Manipulação de Dados · Pentaho</a:t>
            </a:r>
          </a:p>
          <a:p>
            <a:pPr algn="r">
              <a:buNone/>
              <a:spcBef>
                <a:spcPts val="0"/>
              </a:spcBef>
              <a:spcAft>
                <a:spcPts val="0"/>
              </a:spcAft>
            </a:pPr>
            <a:r>
              <a:rPr lang="pt-BR" sz="1400" b="0" i="0" u="none">
                <a:solidFill>
                  <a:srgbClr val="E0E0E0"/>
                </a:solidFill>
                <a:latin typeface="Tahoma"/>
              </a:rPr>
              <a:t>Prof. Dan Lopes · CEUB · 2025</a:t>
            </a:r>
          </a:p>
        </p:txBody>
      </p:sp>
      <p:sp>
        <p:nvSpPr>
          <p:cNvPr id="153" name="company_tag"/>
          <p:cNvSpPr txBox="1"/>
          <p:nvPr/>
        </p:nvSpPr>
        <p:spPr>
          <a:xfrm>
            <a:off x="4800600" y="3657600"/>
            <a:ext cx="3886200" cy="45720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txBody>
          <a:bodyPr anchor="ctr" wrap="square" bIns="34275" lIns="91440" rIns="91440" tIns="34275">
            <a:noAutofit/>
          </a:bodyPr>
          <a:lstStyle/>
          <a:p>
            <a:pPr algn="r">
              <a:buNone/>
              <a:spcBef>
                <a:spcPts val="0"/>
              </a:spcBef>
              <a:spcAft>
                <a:spcPts val="0"/>
              </a:spcAft>
            </a:pPr>
            <a:r>
              <a:rPr lang="pt-BR" sz="1400" b="1" i="0" u="none">
                <a:solidFill>
                  <a:srgbClr val="FFFFFF"/>
                </a:solidFill>
                <a:latin typeface="Tahoma"/>
              </a:rPr>
              <a:t>AutoVendas S.A. · Veículos Novos e Usados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6532" y="-1"/>
            <a:ext cx="9222378" cy="5186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2800" b="1" i="0" u="none" cap="none" strike="noStrike">
                <a:solidFill>
                  <a:srgbClr val="4A148C"/>
                </a:solidFill>
                <a:latin typeface="Tahoma"/>
              </a:rPr>
              <a:t>Contexto do Negócio</a:t>
            </a:r>
            <a:endParaRPr/>
          </a:p>
        </p:txBody>
      </p:sp>
      <p:sp>
        <p:nvSpPr>
          <p:cNvPr id="210" name="TextBox"/>
          <p:cNvSpPr txBox="1"/>
          <p:nvPr/>
        </p:nvSpPr>
        <p:spPr>
          <a:xfrm>
            <a:off x="628650" y="1070856"/>
            <a:ext cx="3886200" cy="3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800" b="1" i="0" u="none" cap="none" strike="noStrike">
                <a:solidFill>
                  <a:srgbClr val="4A148C"/>
                </a:solidFill>
                <a:latin typeface="Tahoma"/>
              </a:rPr>
              <a:t>Empresa: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600" b="0" i="0" u="none" cap="none" strike="noStrike">
                <a:solidFill>
                  <a:srgbClr val="3F3F3F"/>
                </a:solidFill>
                <a:latin typeface="Tahoma"/>
              </a:rPr>
              <a:t>AutoVendas S.A. — concessionária de veículos novos e usados.</a:t>
            </a:r>
            <a:endParaRPr/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800" b="1" i="0" u="none" cap="none" strike="noStrike">
                <a:solidFill>
                  <a:srgbClr val="4A148C"/>
                </a:solidFill>
                <a:latin typeface="Tahoma"/>
              </a:rPr>
              <a:t>Período dos dados: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600" b="0" i="0" u="none" cap="none" strike="noStrike">
                <a:solidFill>
                  <a:srgbClr val="3F3F3F"/>
                </a:solidFill>
                <a:latin typeface="Tahoma"/>
              </a:rPr>
              <a:t>Janeiro 2024 a Março 2026</a:t>
            </a:r>
            <a:endParaRPr/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800" b="1" i="0" u="none" cap="none" strike="noStrike">
                <a:solidFill>
                  <a:srgbClr val="4A148C"/>
                </a:solidFill>
                <a:latin typeface="Tahoma"/>
              </a:rPr>
              <a:t>Fontes de dados: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600" b="0" i="0" u="none" cap="none" strike="noStrike">
                <a:solidFill>
                  <a:srgbClr val="3F3F3F"/>
                </a:solidFill>
                <a:latin typeface="Tahoma"/>
              </a:rPr>
              <a:t>3 arquivos CSV extraídos dos sistemas internos.</a:t>
            </a:r>
            <a:endParaRPr/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800" b="1" i="0" u="none" cap="none" strike="noStrike">
                <a:solidFill>
                  <a:srgbClr val="4A148C"/>
                </a:solidFill>
                <a:latin typeface="Tahoma"/>
              </a:rPr>
              <a:t>Objetivo: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600" b="0" i="0" u="none" cap="none" strike="noStrike">
                <a:solidFill>
                  <a:srgbClr val="3F3F3F"/>
                </a:solidFill>
                <a:latin typeface="Tahoma"/>
              </a:rPr>
              <a:t>Construir uma pipeline ETL no Pentaho capaz de tratar, integrar e gerar insights sobre o negócio.</a:t>
            </a:r>
            <a:endParaRPr/>
          </a:p>
        </p:txBody>
      </p:sp>
      <p:sp>
        <p:nvSpPr>
          <p:cNvPr id="410" name="ColorBox_410"/>
          <p:cNvSpPr txBox="1"/>
          <p:nvPr/>
        </p:nvSpPr>
        <p:spPr>
          <a:xfrm>
            <a:off x="4743450" y="1070856"/>
            <a:ext cx="3771900" cy="68580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txBody>
          <a:bodyPr anchorCtr="0" anchor="ctr" bIns="60960" lIns="91440" spcFirstLastPara="1" rIns="91440" wrap="square" tIns="6096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pt-BR" sz="4400" b="1" i="0" u="none" cap="none" strike="noStrike">
                <a:solidFill>
                  <a:srgbClr val="7B1FA2"/>
                </a:solidFill>
                <a:latin typeface="Tahoma"/>
              </a:rPr>
              <a:t>535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100" b="0" i="0" u="none" cap="none" strike="noStrike">
                <a:solidFill>
                  <a:srgbClr val="666666"/>
                </a:solidFill>
                <a:latin typeface="Tahoma"/>
              </a:rPr>
              <a:t>clientes cadastrados</a:t>
            </a:r>
            <a:endParaRPr/>
          </a:p>
        </p:txBody>
      </p:sp>
      <p:sp>
        <p:nvSpPr>
          <p:cNvPr id="411" name="ColorBox_411"/>
          <p:cNvSpPr txBox="1"/>
          <p:nvPr/>
        </p:nvSpPr>
        <p:spPr>
          <a:xfrm>
            <a:off x="4743450" y="1828656"/>
            <a:ext cx="3771900" cy="68580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txBody>
          <a:bodyPr anchorCtr="0" anchor="ctr" bIns="60960" lIns="91440" spcFirstLastPara="1" rIns="91440" wrap="square" tIns="6096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pt-BR" sz="4400" b="1" i="0" u="none" cap="none" strike="noStrike">
                <a:solidFill>
                  <a:srgbClr val="C2185B"/>
                </a:solidFill>
                <a:latin typeface="Tahoma"/>
              </a:rPr>
              <a:t>570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100" b="0" i="0" u="none" cap="none" strike="noStrike">
                <a:solidFill>
                  <a:srgbClr val="666666"/>
                </a:solidFill>
                <a:latin typeface="Tahoma"/>
              </a:rPr>
              <a:t>transações registradas</a:t>
            </a:r>
            <a:endParaRPr/>
          </a:p>
        </p:txBody>
      </p:sp>
      <p:sp>
        <p:nvSpPr>
          <p:cNvPr id="412" name="ColorBox_412"/>
          <p:cNvSpPr txBox="1"/>
          <p:nvPr/>
        </p:nvSpPr>
        <p:spPr>
          <a:xfrm>
            <a:off x="4743450" y="2586456"/>
            <a:ext cx="3771900" cy="685800"/>
          </a:xfrm>
          <a:prstGeom prst="rect">
            <a:avLst/>
          </a:prstGeom>
          <a:solidFill>
            <a:srgbClr val="EDE7F6"/>
          </a:solidFill>
          <a:ln>
            <a:noFill/>
          </a:ln>
        </p:spPr>
        <p:txBody>
          <a:bodyPr anchorCtr="0" anchor="ctr" bIns="60960" lIns="91440" spcFirstLastPara="1" rIns="91440" wrap="square" tIns="6096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pt-BR" sz="4400" b="1" i="0" u="none" cap="none" strike="noStrike">
                <a:solidFill>
                  <a:srgbClr val="512DA8"/>
                </a:solidFill>
                <a:latin typeface="Tahoma"/>
              </a:rPr>
              <a:t>535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100" b="0" i="0" u="none" cap="none" strike="noStrike">
                <a:solidFill>
                  <a:srgbClr val="666666"/>
                </a:solidFill>
                <a:latin typeface="Tahoma"/>
              </a:rPr>
              <a:t>veículos no estoque</a:t>
            </a:r>
            <a:endParaRPr/>
          </a:p>
        </p:txBody>
      </p:sp>
      <p:sp>
        <p:nvSpPr>
          <p:cNvPr id="413" name="ColorBox_413"/>
          <p:cNvSpPr txBox="1"/>
          <p:nvPr/>
        </p:nvSpPr>
        <p:spPr>
          <a:xfrm>
            <a:off x="4743450" y="3386456"/>
            <a:ext cx="3771900" cy="6858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txBody>
          <a:bodyPr anchorCtr="0" anchor="ctr" bIns="60960" lIns="91440" spcFirstLastPara="1" rIns="91440" wrap="square" tIns="6096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400" b="1" i="0" u="none" cap="none" strike="noStrike">
                <a:solidFill>
                  <a:srgbClr val="E65100"/>
                </a:solidFill>
                <a:latin typeface="Tahoma"/>
              </a:rPr>
              <a:t>⚠ Dados com problemas de qualidade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200" b="0" i="0" u="none" cap="none" strike="noStrike">
                <a:solidFill>
                  <a:srgbClr val="BF360C"/>
                </a:solidFill>
                <a:latin typeface="Tahoma"/>
              </a:rPr>
              <a:t>Duplicatas · Nulos · Formatos inconsistentes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2800" b="1" i="0" u="none" cap="none" strike="noStrike">
                <a:solidFill>
                  <a:srgbClr val="4A148C"/>
                </a:solidFill>
                <a:latin typeface="Tahoma"/>
              </a:rPr>
              <a:t>As 3 Tabelas de Dados</a:t>
            </a:r>
            <a:endParaRPr/>
          </a:p>
        </p:txBody>
      </p:sp>
      <p:sp>
        <p:nvSpPr>
          <p:cNvPr id="420" name="ColorBox_420"/>
          <p:cNvSpPr txBox="1"/>
          <p:nvPr/>
        </p:nvSpPr>
        <p:spPr>
          <a:xfrm>
            <a:off x="628650" y="1070856"/>
            <a:ext cx="2743200" cy="320040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txBody>
          <a:bodyPr anchorCtr="0" anchor="t" bIns="60960" lIns="91440" spcFirstLastPara="1" rIns="91440" wrap="square" tIns="6096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800" b="1" i="0" u="none" cap="none" strike="noStrike">
                <a:solidFill>
                  <a:srgbClr val="7B1FA2"/>
                </a:solidFill>
                <a:latin typeface="Tahoma"/>
              </a:rPr>
              <a:t>TB1 — Clientes</a:t>
            </a:r>
            <a:endParaRPr/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00" b="0" i="0" u="none" cap="none" strike="noStrike">
                <a:solidFill>
                  <a:srgbClr val="4A4A4A"/>
                </a:solidFill>
                <a:latin typeface="Tahoma"/>
              </a:rPr>
              <a:t>id_cliente  ·  tipo_cliente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00" b="0" i="0" u="none" cap="none" strike="noStrike">
                <a:solidFill>
                  <a:srgbClr val="4A4A4A"/>
                </a:solidFill>
                <a:latin typeface="Tahoma"/>
              </a:rPr>
              <a:t>nome_razao_social  ·  cpf_cnpj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00" b="0" i="0" u="none" cap="none" strike="noStrike">
                <a:solidFill>
                  <a:srgbClr val="4A4A4A"/>
                </a:solidFill>
                <a:latin typeface="Tahoma"/>
              </a:rPr>
              <a:t>email  ·  telefone  ·  cep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00" b="0" i="0" u="none" cap="none" strike="noStrike">
                <a:solidFill>
                  <a:srgbClr val="4A4A4A"/>
                </a:solidFill>
                <a:latin typeface="Tahoma"/>
              </a:rPr>
              <a:t>cidade  ·  estado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00" b="0" i="0" u="none" cap="none" strike="noStrike">
                <a:solidFill>
                  <a:srgbClr val="4A4A4A"/>
                </a:solidFill>
                <a:latin typeface="Tahoma"/>
              </a:rPr>
              <a:t>data_nascimento_fundacao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00" b="0" i="0" u="none" cap="none" strike="noStrike">
                <a:solidFill>
                  <a:srgbClr val="4A4A4A"/>
                </a:solidFill>
                <a:latin typeface="Tahoma"/>
              </a:rPr>
              <a:t>genero  ·  profissao_segmento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00" b="0" i="0" u="none" cap="none" strike="noStrike">
                <a:solidFill>
                  <a:srgbClr val="4A4A4A"/>
                </a:solidFill>
                <a:latin typeface="Tahoma"/>
              </a:rPr>
              <a:t>renda_mensal_faturamento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00" b="0" i="0" u="none" cap="none" strike="noStrike">
                <a:solidFill>
                  <a:srgbClr val="4A4A4A"/>
                </a:solidFill>
                <a:latin typeface="Tahoma"/>
              </a:rPr>
              <a:t>data_cadastro</a:t>
            </a:r>
            <a:endParaRPr/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200" b="1" i="0" u="none" cap="none" strike="noStrike">
                <a:solidFill>
                  <a:srgbClr val="7B1FA2"/>
                </a:solidFill>
                <a:latin typeface="Tahoma"/>
              </a:rPr>
              <a:t>535 linhas   |   PF e PJ</a:t>
            </a:r>
            <a:endParaRPr/>
          </a:p>
        </p:txBody>
      </p:sp>
      <p:sp>
        <p:nvSpPr>
          <p:cNvPr id="421" name="ColorBox_421"/>
          <p:cNvSpPr txBox="1"/>
          <p:nvPr/>
        </p:nvSpPr>
        <p:spPr>
          <a:xfrm>
            <a:off x="3543450" y="1070856"/>
            <a:ext cx="2743200" cy="320040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txBody>
          <a:bodyPr anchorCtr="0" anchor="t" bIns="60960" lIns="91440" spcFirstLastPara="1" rIns="91440" wrap="square" tIns="6096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800" b="1" i="0" u="none" cap="none" strike="noStrike">
                <a:solidFill>
                  <a:srgbClr val="C2185B"/>
                </a:solidFill>
                <a:latin typeface="Tahoma"/>
              </a:rPr>
              <a:t>TB2 — Transações</a:t>
            </a:r>
            <a:endParaRPr/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00" b="0" i="0" u="none" cap="none" strike="noStrike">
                <a:solidFill>
                  <a:srgbClr val="4A4A4A"/>
                </a:solidFill>
                <a:latin typeface="Tahoma"/>
              </a:rPr>
              <a:t>id_transacao  ·  id_cliente  (FK)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00" b="0" i="0" u="none" cap="none" strike="noStrike">
                <a:solidFill>
                  <a:srgbClr val="4A4A4A"/>
                </a:solidFill>
                <a:latin typeface="Tahoma"/>
              </a:rPr>
              <a:t>id_veiculo  (FK)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00" b="0" i="0" u="none" cap="none" strike="noStrike">
                <a:solidFill>
                  <a:srgbClr val="4A4A4A"/>
                </a:solidFill>
                <a:latin typeface="Tahoma"/>
              </a:rPr>
              <a:t>tipo_operacao  (Venda / Compra)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00" b="0" i="0" u="none" cap="none" strike="noStrike">
                <a:solidFill>
                  <a:srgbClr val="4A4A4A"/>
                </a:solidFill>
                <a:latin typeface="Tahoma"/>
              </a:rPr>
              <a:t>data_transacao  ·  valor_transacao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00" b="0" i="0" u="none" cap="none" strike="noStrike">
                <a:solidFill>
                  <a:srgbClr val="4A4A4A"/>
                </a:solidFill>
                <a:latin typeface="Tahoma"/>
              </a:rPr>
              <a:t>desconto  ·  forma_pagamento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00" b="0" i="0" u="none" cap="none" strike="noStrike">
                <a:solidFill>
                  <a:srgbClr val="4A4A4A"/>
                </a:solidFill>
                <a:latin typeface="Tahoma"/>
              </a:rPr>
              <a:t>status_transacao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00" b="0" i="0" u="none" cap="none" strike="noStrike">
                <a:solidFill>
                  <a:srgbClr val="4A4A4A"/>
                </a:solidFill>
                <a:latin typeface="Tahoma"/>
              </a:rPr>
              <a:t>vendedor_responsavel  ·  filial</a:t>
            </a:r>
            <a:endParaRPr/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endParaRPr/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200" b="1" i="0" u="none" cap="none" strike="noStrike">
                <a:solidFill>
                  <a:srgbClr val="C2185B"/>
                </a:solidFill>
                <a:latin typeface="Tahoma"/>
              </a:rPr>
              <a:t>570 linhas   |   2024–2026</a:t>
            </a:r>
            <a:endParaRPr/>
          </a:p>
        </p:txBody>
      </p:sp>
      <p:sp>
        <p:nvSpPr>
          <p:cNvPr id="422" name="ColorBox_422"/>
          <p:cNvSpPr txBox="1"/>
          <p:nvPr/>
        </p:nvSpPr>
        <p:spPr>
          <a:xfrm>
            <a:off x="6458250" y="1070856"/>
            <a:ext cx="2743200" cy="3200400"/>
          </a:xfrm>
          <a:prstGeom prst="rect">
            <a:avLst/>
          </a:prstGeom>
          <a:solidFill>
            <a:srgbClr val="EDE7F6"/>
          </a:solidFill>
          <a:ln>
            <a:noFill/>
          </a:ln>
        </p:spPr>
        <p:txBody>
          <a:bodyPr anchorCtr="0" anchor="t" bIns="60960" lIns="91440" spcFirstLastPara="1" rIns="91440" wrap="square" tIns="6096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800" b="1" i="0" u="none" cap="none" strike="noStrike">
                <a:solidFill>
                  <a:srgbClr val="512DA8"/>
                </a:solidFill>
                <a:latin typeface="Tahoma"/>
              </a:rPr>
              <a:t>TB3 — Estoque</a:t>
            </a:r>
            <a:endParaRPr/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00" b="0" i="0" u="none" cap="none" strike="noStrike">
                <a:solidFill>
                  <a:srgbClr val="4A4A4A"/>
                </a:solidFill>
                <a:latin typeface="Tahoma"/>
              </a:rPr>
              <a:t>id_veiculo  ·  marca  ·  modelo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00" b="0" i="0" u="none" cap="none" strike="noStrike">
                <a:solidFill>
                  <a:srgbClr val="4A4A4A"/>
                </a:solidFill>
                <a:latin typeface="Tahoma"/>
              </a:rPr>
              <a:t>categoria  ·  tipo_veiculo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00" b="0" i="0" u="none" cap="none" strike="noStrike">
                <a:solidFill>
                  <a:srgbClr val="4A4A4A"/>
                </a:solidFill>
                <a:latin typeface="Tahoma"/>
              </a:rPr>
              <a:t>ano_fabricacao  ·  ano_modelo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00" b="0" i="0" u="none" cap="none" strike="noStrike">
                <a:solidFill>
                  <a:srgbClr val="4A4A4A"/>
                </a:solidFill>
                <a:latin typeface="Tahoma"/>
              </a:rPr>
              <a:t>cor  ·  km  ·  placa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00" b="0" i="0" u="none" cap="none" strike="noStrike">
                <a:solidFill>
                  <a:srgbClr val="4A4A4A"/>
                </a:solidFill>
                <a:latin typeface="Tahoma"/>
              </a:rPr>
              <a:t>preco_custo  ·  preco_venda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00" b="0" i="0" u="none" cap="none" strike="noStrike">
                <a:solidFill>
                  <a:srgbClr val="4A4A4A"/>
                </a:solidFill>
                <a:latin typeface="Tahoma"/>
              </a:rPr>
              <a:t>status_estoque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00" b="0" i="0" u="none" cap="none" strike="noStrike">
                <a:solidFill>
                  <a:srgbClr val="4A4A4A"/>
                </a:solidFill>
                <a:latin typeface="Tahoma"/>
              </a:rPr>
              <a:t>data_entrada  ·  data_saida</a:t>
            </a:r>
            <a:endParaRPr/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endParaRPr/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200" b="1" i="0" u="none" cap="none" strike="noStrike">
                <a:solidFill>
                  <a:srgbClr val="512DA8"/>
                </a:solidFill>
                <a:latin typeface="Tahoma"/>
              </a:rPr>
              <a:t>535 linhas   |   Novo e Usado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2800" b="1" i="0" u="none" cap="none" strike="noStrike">
                <a:solidFill>
                  <a:srgbClr val="4A148C"/>
                </a:solidFill>
                <a:latin typeface="Tahoma"/>
              </a:rPr>
              <a:t>Problemas nos Dados</a:t>
            </a:r>
            <a:endParaRPr/>
          </a:p>
        </p:txBody>
      </p:sp>
      <p:sp>
        <p:nvSpPr>
          <p:cNvPr id="430" name="ColorBox_430"/>
          <p:cNvSpPr txBox="1"/>
          <p:nvPr/>
        </p:nvSpPr>
        <p:spPr>
          <a:xfrm>
            <a:off x="628650" y="1070856"/>
            <a:ext cx="3657600" cy="3600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txBody>
          <a:bodyPr anchorCtr="0" anchor="t" bIns="60960" lIns="91440" spcFirstLastPara="1" rIns="91440" wrap="square" tIns="6096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600" b="1" i="0" u="none" cap="none" strike="noStrike">
                <a:solidFill>
                  <a:srgbClr val="E65100"/>
                </a:solidFill>
                <a:latin typeface="Tahoma"/>
              </a:rPr>
              <a:t>TB1 — Clientes</a:t>
            </a:r>
            <a:endParaRPr/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50" b="0" i="0" u="none" cap="none" strike="noStrike">
                <a:solidFill>
                  <a:srgbClr val="4A4A4A"/>
                </a:solidFill>
                <a:latin typeface="Tahoma"/>
              </a:rPr>
              <a:t>• Duplicatas (~15 registros)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50" b="0" i="0" u="none" cap="none" strike="noStrike">
                <a:solidFill>
                  <a:srgbClr val="4A4A4A"/>
                </a:solidFill>
                <a:latin typeface="Tahoma"/>
              </a:rPr>
              <a:t>• CPF/CNPJ sem padronização de máscara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50" b="0" i="0" u="none" cap="none" strike="noStrike">
                <a:solidFill>
                  <a:srgbClr val="4A4A4A"/>
                </a:solidFill>
                <a:latin typeface="Tahoma"/>
              </a:rPr>
              <a:t>• Datas em 4 formatos distintos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50" b="0" i="0" u="none" cap="none" strike="noStrike">
                <a:solidFill>
                  <a:srgbClr val="4A4A4A"/>
                </a:solidFill>
                <a:latin typeface="Tahoma"/>
              </a:rPr>
              <a:t>• Data de nascimento no futuro (2030)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50" b="0" i="0" u="none" cap="none" strike="noStrike">
                <a:solidFill>
                  <a:srgbClr val="4A4A4A"/>
                </a:solidFill>
                <a:latin typeface="Tahoma"/>
              </a:rPr>
              <a:t>• E-mails inválidos (sem @, texto livre)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50" b="0" i="0" u="none" cap="none" strike="noStrike">
                <a:solidFill>
                  <a:srgbClr val="4A4A4A"/>
                </a:solidFill>
                <a:latin typeface="Tahoma"/>
              </a:rPr>
              <a:t>• Estado com abreviatura errada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50" b="0" i="0" u="none" cap="none" strike="noStrike">
                <a:solidFill>
                  <a:srgbClr val="4A4A4A"/>
                </a:solidFill>
                <a:latin typeface="Tahoma"/>
              </a:rPr>
              <a:t>• Renda com prefixo “R$” misturado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50" b="0" i="0" u="none" cap="none" strike="noStrike">
                <a:solidFill>
                  <a:srgbClr val="4A4A4A"/>
                </a:solidFill>
                <a:latin typeface="Tahoma"/>
              </a:rPr>
              <a:t>• Nomes em CAPS, lowercase e espaços extras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50" b="0" i="0" u="none" cap="none" strike="noStrike">
                <a:solidFill>
                  <a:srgbClr val="4A4A4A"/>
                </a:solidFill>
                <a:latin typeface="Tahoma"/>
              </a:rPr>
              <a:t>• Campos nulos espalhados</a:t>
            </a:r>
            <a:endParaRPr/>
          </a:p>
        </p:txBody>
      </p:sp>
      <p:sp>
        <p:nvSpPr>
          <p:cNvPr id="431" name="ColorBox_431"/>
          <p:cNvSpPr txBox="1"/>
          <p:nvPr/>
        </p:nvSpPr>
        <p:spPr>
          <a:xfrm>
            <a:off x="4514250" y="1070856"/>
            <a:ext cx="3600000" cy="168580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txBody>
          <a:bodyPr anchorCtr="0" anchor="t" bIns="60960" lIns="91440" spcFirstLastPara="1" rIns="91440" wrap="square" tIns="6096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600" b="1" i="0" u="none" cap="none" strike="noStrike">
                <a:solidFill>
                  <a:srgbClr val="C62828"/>
                </a:solidFill>
                <a:latin typeface="Tahoma"/>
              </a:rPr>
              <a:t>TB2 — Transações</a:t>
            </a:r>
            <a:endParaRPr/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50" b="0" i="0" u="none" cap="none" strike="noStrike">
                <a:solidFill>
                  <a:srgbClr val="4A4A4A"/>
                </a:solidFill>
                <a:latin typeface="Tahoma"/>
              </a:rPr>
              <a:t>• Duplicatas (~20 registros)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50" b="0" i="0" u="none" cap="none" strike="noStrike">
                <a:solidFill>
                  <a:srgbClr val="4A4A4A"/>
                </a:solidFill>
                <a:latin typeface="Tahoma"/>
              </a:rPr>
              <a:t>• Valores negativos e zerados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50" b="0" i="0" u="none" cap="none" strike="noStrike">
                <a:solidFill>
                  <a:srgbClr val="4A4A4A"/>
                </a:solidFill>
                <a:latin typeface="Tahoma"/>
              </a:rPr>
              <a:t>• FKs inválidas (cliente/veículo inexistente)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50" b="0" i="0" u="none" cap="none" strike="noStrike">
                <a:solidFill>
                  <a:srgbClr val="4A4A4A"/>
                </a:solidFill>
                <a:latin typeface="Tahoma"/>
              </a:rPr>
              <a:t>• Status com variantes (Concluída/CONCLUIDA)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50" b="0" i="0" u="none" cap="none" strike="noStrike">
                <a:solidFill>
                  <a:srgbClr val="4A4A4A"/>
                </a:solidFill>
                <a:latin typeface="Tahoma"/>
              </a:rPr>
              <a:t>• Forma pag. com typos (Finaciamento)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50" b="0" i="0" u="none" cap="none" strike="noStrike">
                <a:solidFill>
                  <a:srgbClr val="4A4A4A"/>
                </a:solidFill>
                <a:latin typeface="Tahoma"/>
              </a:rPr>
              <a:t>• Datas com e sem horário</a:t>
            </a:r>
            <a:endParaRPr/>
          </a:p>
        </p:txBody>
      </p:sp>
      <p:sp>
        <p:nvSpPr>
          <p:cNvPr id="432" name="ColorBox_432"/>
          <p:cNvSpPr txBox="1"/>
          <p:nvPr/>
        </p:nvSpPr>
        <p:spPr>
          <a:xfrm>
            <a:off x="4514250" y="2870256"/>
            <a:ext cx="3600000" cy="1800000"/>
          </a:xfrm>
          <a:prstGeom prst="rect">
            <a:avLst/>
          </a:prstGeom>
          <a:solidFill>
            <a:srgbClr val="EDE7F6"/>
          </a:solidFill>
          <a:ln>
            <a:noFill/>
          </a:ln>
        </p:spPr>
        <p:txBody>
          <a:bodyPr anchorCtr="0" anchor="t" bIns="60960" lIns="91440" spcFirstLastPara="1" rIns="91440" wrap="square" tIns="6096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600" b="1" i="0" u="none" cap="none" strike="noStrike">
                <a:solidFill>
                  <a:srgbClr val="4527A0"/>
                </a:solidFill>
                <a:latin typeface="Tahoma"/>
              </a:rPr>
              <a:t>TB3 — Estoque</a:t>
            </a:r>
            <a:endParaRPr/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50" b="0" i="0" u="none" cap="none" strike="noStrike">
                <a:solidFill>
                  <a:srgbClr val="4A4A4A"/>
                </a:solidFill>
                <a:latin typeface="Tahoma"/>
              </a:rPr>
              <a:t>• Veículo “Novo” com km &gt; 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50" b="0" i="0" u="none" cap="none" strike="noStrike">
                <a:solidFill>
                  <a:srgbClr val="4A4A4A"/>
                </a:solidFill>
                <a:latin typeface="Tahoma"/>
              </a:rPr>
              <a:t>• Km negativo (erro de sistema)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50" b="0" i="0" u="none" cap="none" strike="noStrike">
                <a:solidFill>
                  <a:srgbClr val="4A4A4A"/>
                </a:solidFill>
                <a:latin typeface="Tahoma"/>
              </a:rPr>
              <a:t>• Preço de venda abaixo do custo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50" b="0" i="0" u="none" cap="none" strike="noStrike">
                <a:solidFill>
                  <a:srgbClr val="4A4A4A"/>
                </a:solidFill>
                <a:latin typeface="Tahoma"/>
              </a:rPr>
              <a:t>• Categoria com 6 variantes (suv/SUV/Suv...)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50" b="0" i="0" u="none" cap="none" strike="noStrike">
                <a:solidFill>
                  <a:srgbClr val="4A4A4A"/>
                </a:solidFill>
                <a:latin typeface="Tahoma"/>
              </a:rPr>
              <a:t>• Status com inconsistências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50" b="0" i="0" u="none" cap="none" strike="noStrike">
                <a:solidFill>
                  <a:srgbClr val="4A4A4A"/>
                </a:solidFill>
                <a:latin typeface="Tahoma"/>
              </a:rPr>
              <a:t>• Duplicatas (~15 registros)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2800" b="1" i="0" u="none" cap="none" strike="noStrike">
                <a:solidFill>
                  <a:srgbClr val="4A148C"/>
                </a:solidFill>
                <a:latin typeface="Tahoma"/>
              </a:rPr>
              <a:t>Etapas da Pipeline no Pentaho</a:t>
            </a:r>
            <a:endParaRPr/>
          </a:p>
        </p:txBody>
      </p:sp>
      <p:sp>
        <p:nvSpPr>
          <p:cNvPr id="440" name="ColorBox_440"/>
          <p:cNvSpPr txBox="1"/>
          <p:nvPr/>
        </p:nvSpPr>
        <p:spPr>
          <a:xfrm>
            <a:off x="628650" y="1200000"/>
            <a:ext cx="1075200" cy="68580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txBody>
          <a:bodyPr anchorCtr="0" anchor="ctr" bIns="60960" lIns="91440" spcFirstLastPara="1" rIns="91440" wrap="square" tIns="6096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2000" b="1" i="0" u="none" cap="none" strike="noStrike">
                <a:solidFill>
                  <a:srgbClr val="FFFFFF"/>
                </a:solidFill>
                <a:latin typeface="Tahoma"/>
              </a:rPr>
              <a:t>01</a:t>
            </a:r>
            <a:endParaRPr/>
          </a:p>
        </p:txBody>
      </p:sp>
      <p:sp>
        <p:nvSpPr>
          <p:cNvPr id="210" name="TextBox"/>
          <p:cNvSpPr txBox="1"/>
          <p:nvPr/>
        </p:nvSpPr>
        <p:spPr>
          <a:xfrm>
            <a:off x="628650" y="1931520"/>
            <a:ext cx="1075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200" b="1" i="0" u="none" cap="none" strike="noStrike">
                <a:solidFill>
                  <a:srgbClr val="4A148C"/>
                </a:solidFill>
                <a:latin typeface="Tahoma"/>
              </a:rPr>
              <a:t>Ingestão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000" b="0" i="0" u="none" cap="none" strike="noStrike">
                <a:solidFill>
                  <a:srgbClr val="4A4A4A"/>
                </a:solidFill>
                <a:latin typeface="Tahoma"/>
              </a:rPr>
              <a:t>Ler os 3 CSVs
via Text Input</a:t>
            </a:r>
            <a:endParaRPr/>
          </a:p>
        </p:txBody>
      </p:sp>
      <p:sp>
        <p:nvSpPr>
          <p:cNvPr id="441" name="ColorBox_441"/>
          <p:cNvSpPr txBox="1"/>
          <p:nvPr/>
        </p:nvSpPr>
        <p:spPr>
          <a:xfrm>
            <a:off x="1761600" y="1200000"/>
            <a:ext cx="1075200" cy="6858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txBody>
          <a:bodyPr anchorCtr="0" anchor="ctr" bIns="60960" lIns="91440" spcFirstLastPara="1" rIns="91440" wrap="square" tIns="6096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2000" b="1" i="0" u="none" cap="none" strike="noStrike">
                <a:solidFill>
                  <a:srgbClr val="FFFFFF"/>
                </a:solidFill>
                <a:latin typeface="Tahoma"/>
              </a:rPr>
              <a:t>02</a:t>
            </a:r>
            <a:endParaRPr/>
          </a:p>
        </p:txBody>
      </p:sp>
      <p:sp>
        <p:nvSpPr>
          <p:cNvPr id="210" name="TextBox"/>
          <p:cNvSpPr txBox="1"/>
          <p:nvPr/>
        </p:nvSpPr>
        <p:spPr>
          <a:xfrm>
            <a:off x="1761600" y="1931520"/>
            <a:ext cx="1075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200" b="1" i="0" u="none" cap="none" strike="noStrike">
                <a:solidFill>
                  <a:srgbClr val="4A148C"/>
                </a:solidFill>
                <a:latin typeface="Tahoma"/>
              </a:rPr>
              <a:t>Dedup.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000" b="0" i="0" u="none" cap="none" strike="noStrike">
                <a:solidFill>
                  <a:srgbClr val="4A4A4A"/>
                </a:solidFill>
                <a:latin typeface="Tahoma"/>
              </a:rPr>
              <a:t>Sort Rows +
Unique Rows</a:t>
            </a:r>
            <a:endParaRPr/>
          </a:p>
        </p:txBody>
      </p:sp>
      <p:sp>
        <p:nvSpPr>
          <p:cNvPr id="442" name="ColorBox_442"/>
          <p:cNvSpPr txBox="1"/>
          <p:nvPr/>
        </p:nvSpPr>
        <p:spPr>
          <a:xfrm>
            <a:off x="2894550" y="1200000"/>
            <a:ext cx="1075200" cy="685800"/>
          </a:xfrm>
          <a:prstGeom prst="rect">
            <a:avLst/>
          </a:prstGeom>
          <a:solidFill>
            <a:srgbClr val="C2185B"/>
          </a:solidFill>
          <a:ln>
            <a:noFill/>
          </a:ln>
        </p:spPr>
        <p:txBody>
          <a:bodyPr anchorCtr="0" anchor="ctr" bIns="60960" lIns="91440" spcFirstLastPara="1" rIns="91440" wrap="square" tIns="6096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2000" b="1" i="0" u="none" cap="none" strike="noStrike">
                <a:solidFill>
                  <a:srgbClr val="FFFFFF"/>
                </a:solidFill>
                <a:latin typeface="Tahoma"/>
              </a:rPr>
              <a:t>03</a:t>
            </a:r>
            <a:endParaRPr/>
          </a:p>
        </p:txBody>
      </p:sp>
      <p:sp>
        <p:nvSpPr>
          <p:cNvPr id="210" name="TextBox"/>
          <p:cNvSpPr txBox="1"/>
          <p:nvPr/>
        </p:nvSpPr>
        <p:spPr>
          <a:xfrm>
            <a:off x="2894550" y="1931520"/>
            <a:ext cx="1075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200" b="1" i="0" u="none" cap="none" strike="noStrike">
                <a:solidFill>
                  <a:srgbClr val="4A148C"/>
                </a:solidFill>
                <a:latin typeface="Tahoma"/>
              </a:rPr>
              <a:t>Padron.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000" b="0" i="0" u="none" cap="none" strike="noStrike">
                <a:solidFill>
                  <a:srgbClr val="4A4A4A"/>
                </a:solidFill>
                <a:latin typeface="Tahoma"/>
              </a:rPr>
              <a:t>Normalizar datas
status e categorias</a:t>
            </a:r>
            <a:endParaRPr/>
          </a:p>
        </p:txBody>
      </p:sp>
      <p:sp>
        <p:nvSpPr>
          <p:cNvPr id="443" name="ColorBox_443"/>
          <p:cNvSpPr txBox="1"/>
          <p:nvPr/>
        </p:nvSpPr>
        <p:spPr>
          <a:xfrm>
            <a:off x="4027500" y="1200000"/>
            <a:ext cx="1075200" cy="685800"/>
          </a:xfrm>
          <a:prstGeom prst="rect">
            <a:avLst/>
          </a:prstGeom>
          <a:solidFill>
            <a:srgbClr val="AD1457"/>
          </a:solidFill>
          <a:ln>
            <a:noFill/>
          </a:ln>
        </p:spPr>
        <p:txBody>
          <a:bodyPr anchorCtr="0" anchor="ctr" bIns="60960" lIns="91440" spcFirstLastPara="1" rIns="91440" wrap="square" tIns="6096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2000" b="1" i="0" u="none" cap="none" strike="noStrike">
                <a:solidFill>
                  <a:srgbClr val="FFFFFF"/>
                </a:solidFill>
                <a:latin typeface="Tahoma"/>
              </a:rPr>
              <a:t>04</a:t>
            </a:r>
            <a:endParaRPr/>
          </a:p>
        </p:txBody>
      </p:sp>
      <p:sp>
        <p:nvSpPr>
          <p:cNvPr id="210" name="TextBox"/>
          <p:cNvSpPr txBox="1"/>
          <p:nvPr/>
        </p:nvSpPr>
        <p:spPr>
          <a:xfrm>
            <a:off x="4027500" y="1931520"/>
            <a:ext cx="1075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200" b="1" i="0" u="none" cap="none" strike="noStrike">
                <a:solidFill>
                  <a:srgbClr val="4A148C"/>
                </a:solidFill>
                <a:latin typeface="Tahoma"/>
              </a:rPr>
              <a:t>Limpeza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000" b="0" i="0" u="none" cap="none" strike="noStrike">
                <a:solidFill>
                  <a:srgbClr val="4A4A4A"/>
                </a:solidFill>
                <a:latin typeface="Tahoma"/>
              </a:rPr>
              <a:t>Filter Rows:
valores inválidos</a:t>
            </a:r>
            <a:endParaRPr/>
          </a:p>
        </p:txBody>
      </p:sp>
      <p:sp>
        <p:nvSpPr>
          <p:cNvPr id="444" name="ColorBox_444"/>
          <p:cNvSpPr txBox="1"/>
          <p:nvPr/>
        </p:nvSpPr>
        <p:spPr>
          <a:xfrm>
            <a:off x="5160450" y="1200000"/>
            <a:ext cx="1075200" cy="685800"/>
          </a:xfrm>
          <a:prstGeom prst="rect">
            <a:avLst/>
          </a:prstGeom>
          <a:solidFill>
            <a:srgbClr val="880E4F"/>
          </a:solidFill>
          <a:ln>
            <a:noFill/>
          </a:ln>
        </p:spPr>
        <p:txBody>
          <a:bodyPr anchorCtr="0" anchor="ctr" bIns="60960" lIns="91440" spcFirstLastPara="1" rIns="91440" wrap="square" tIns="6096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2000" b="1" i="0" u="none" cap="none" strike="noStrike">
                <a:solidFill>
                  <a:srgbClr val="FFFFFF"/>
                </a:solidFill>
                <a:latin typeface="Tahoma"/>
              </a:rPr>
              <a:t>05</a:t>
            </a:r>
            <a:endParaRPr/>
          </a:p>
        </p:txBody>
      </p:sp>
      <p:sp>
        <p:nvSpPr>
          <p:cNvPr id="210" name="TextBox"/>
          <p:cNvSpPr txBox="1"/>
          <p:nvPr/>
        </p:nvSpPr>
        <p:spPr>
          <a:xfrm>
            <a:off x="5160450" y="1931520"/>
            <a:ext cx="1075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200" b="1" i="0" u="none" cap="none" strike="noStrike">
                <a:solidFill>
                  <a:srgbClr val="4A148C"/>
                </a:solidFill>
                <a:latin typeface="Tahoma"/>
              </a:rPr>
              <a:t>Enriq.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000" b="0" i="0" u="none" cap="none" strike="noStrike">
                <a:solidFill>
                  <a:srgbClr val="4A4A4A"/>
                </a:solidFill>
                <a:latin typeface="Tahoma"/>
              </a:rPr>
              <a:t>Join das 3 tabelas
(Merge Join)</a:t>
            </a:r>
            <a:endParaRPr/>
          </a:p>
        </p:txBody>
      </p:sp>
      <p:sp>
        <p:nvSpPr>
          <p:cNvPr id="445" name="ColorBox_445"/>
          <p:cNvSpPr txBox="1"/>
          <p:nvPr/>
        </p:nvSpPr>
        <p:spPr>
          <a:xfrm>
            <a:off x="6293400" y="1200000"/>
            <a:ext cx="1075200" cy="6858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txBody>
          <a:bodyPr anchorCtr="0" anchor="ctr" bIns="60960" lIns="91440" spcFirstLastPara="1" rIns="91440" wrap="square" tIns="6096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2000" b="1" i="0" u="none" cap="none" strike="noStrike">
                <a:solidFill>
                  <a:srgbClr val="FFFFFF"/>
                </a:solidFill>
                <a:latin typeface="Tahoma"/>
              </a:rPr>
              <a:t>06</a:t>
            </a:r>
            <a:endParaRPr/>
          </a:p>
        </p:txBody>
      </p:sp>
      <p:sp>
        <p:nvSpPr>
          <p:cNvPr id="210" name="TextBox"/>
          <p:cNvSpPr txBox="1"/>
          <p:nvPr/>
        </p:nvSpPr>
        <p:spPr>
          <a:xfrm>
            <a:off x="6293400" y="1931520"/>
            <a:ext cx="1075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200" b="1" i="0" u="none" cap="none" strike="noStrike">
                <a:solidFill>
                  <a:srgbClr val="4A148C"/>
                </a:solidFill>
                <a:latin typeface="Tahoma"/>
              </a:rPr>
              <a:t>Agregação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000" b="0" i="0" u="none" cap="none" strike="noStrike">
                <a:solidFill>
                  <a:srgbClr val="4A4A4A"/>
                </a:solidFill>
                <a:latin typeface="Tahoma"/>
              </a:rPr>
              <a:t>Group By:
vendas/período</a:t>
            </a:r>
            <a:endParaRPr/>
          </a:p>
        </p:txBody>
      </p:sp>
      <p:sp>
        <p:nvSpPr>
          <p:cNvPr id="446" name="ColorBox_446"/>
          <p:cNvSpPr txBox="1"/>
          <p:nvPr/>
        </p:nvSpPr>
        <p:spPr>
          <a:xfrm>
            <a:off x="7426350" y="1200000"/>
            <a:ext cx="1075200" cy="685800"/>
          </a:xfrm>
          <a:prstGeom prst="rect">
            <a:avLst/>
          </a:prstGeom>
          <a:solidFill>
            <a:srgbClr val="4527A0"/>
          </a:solidFill>
          <a:ln>
            <a:noFill/>
          </a:ln>
        </p:spPr>
        <p:txBody>
          <a:bodyPr anchorCtr="0" anchor="ctr" bIns="60960" lIns="91440" spcFirstLastPara="1" rIns="91440" wrap="square" tIns="6096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2000" b="1" i="0" u="none" cap="none" strike="noStrike">
                <a:solidFill>
                  <a:srgbClr val="FFFFFF"/>
                </a:solidFill>
                <a:latin typeface="Tahoma"/>
              </a:rPr>
              <a:t>07</a:t>
            </a:r>
            <a:endParaRPr/>
          </a:p>
        </p:txBody>
      </p:sp>
      <p:sp>
        <p:nvSpPr>
          <p:cNvPr id="210" name="TextBox"/>
          <p:cNvSpPr txBox="1"/>
          <p:nvPr/>
        </p:nvSpPr>
        <p:spPr>
          <a:xfrm>
            <a:off x="7426350" y="1931520"/>
            <a:ext cx="1075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200" b="1" i="0" u="none" cap="none" strike="noStrike">
                <a:solidFill>
                  <a:srgbClr val="4A148C"/>
                </a:solidFill>
                <a:latin typeface="Tahoma"/>
              </a:rPr>
              <a:t>Output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000" b="0" i="0" u="none" cap="none" strike="noStrike">
                <a:solidFill>
                  <a:srgbClr val="4A4A4A"/>
                </a:solidFill>
                <a:latin typeface="Tahoma"/>
              </a:rPr>
              <a:t>Excel Output +
Relatórios</a:t>
            </a:r>
            <a:endParaRPr/>
          </a:p>
        </p:txBody>
      </p:sp>
      <p:sp>
        <p:nvSpPr>
          <p:cNvPr id="210" name="TextBox"/>
          <p:cNvSpPr txBox="1"/>
          <p:nvPr/>
        </p:nvSpPr>
        <p:spPr>
          <a:xfrm>
            <a:off x="628650" y="2971800"/>
            <a:ext cx="7886700" cy="1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600" b="1" i="0" u="none" cap="none" strike="noStrike">
                <a:solidFill>
                  <a:srgbClr val="4A148C"/>
                </a:solidFill>
                <a:latin typeface="Tahoma"/>
              </a:rPr>
              <a:t>Tecnologias no Pentaho: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400" b="0" i="0" u="none" cap="none" strike="noStrike">
                <a:solidFill>
                  <a:srgbClr val="3F3F3F"/>
                </a:solidFill>
                <a:latin typeface="Tahoma"/>
              </a:rPr>
              <a:t>Text File Input  ·  Filter Rows  ·  Sort Rows  ·  Unique Rows  ·  String Operations  ·  Select/Rename Values</a:t>
            </a:r>
            <a:endParaRPr/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400" b="0" i="0" u="none" cap="none" strike="noStrike">
                <a:solidFill>
                  <a:srgbClr val="3F3F3F"/>
                </a:solidFill>
                <a:latin typeface="Tahoma"/>
              </a:rPr>
              <a:t>Merge Join (LEFT JOIN TB2 × TB1 × TB3)  ·  Group By  ·  Microsoft Excel Output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2800" b="1" i="0" u="none" cap="none" strike="noStrike">
                <a:solidFill>
                  <a:srgbClr val="4A148C"/>
                </a:solidFill>
                <a:latin typeface="Tahoma"/>
              </a:rPr>
              <a:t>Transformações Requeridas</a:t>
            </a:r>
            <a:endParaRPr/>
          </a:p>
        </p:txBody>
      </p:sp>
      <p:sp>
        <p:nvSpPr>
          <p:cNvPr id="450" name="ColorBox_450"/>
          <p:cNvSpPr txBox="1"/>
          <p:nvPr/>
        </p:nvSpPr>
        <p:spPr>
          <a:xfrm>
            <a:off x="628650" y="1070856"/>
            <a:ext cx="3886200" cy="3500000"/>
          </a:xfrm>
          <a:prstGeom prst="rect">
            <a:avLst/>
          </a:prstGeom>
          <a:solidFill>
            <a:srgbClr val="F8F0FA"/>
          </a:solidFill>
          <a:ln>
            <a:noFill/>
          </a:ln>
        </p:spPr>
        <p:txBody>
          <a:bodyPr anchorCtr="0" anchor="t" bIns="60960" lIns="91440" spcFirstLastPara="1" rIns="91440" wrap="square" tIns="6096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800" b="1" i="0" u="none" cap="none" strike="noStrike">
                <a:solidFill>
                  <a:srgbClr val="7B1FA2"/>
                </a:solidFill>
                <a:latin typeface="Tahoma"/>
              </a:rPr>
              <a:t>Padronização de Dados</a:t>
            </a:r>
            <a:endParaRPr/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500" b="1" i="0" u="none" cap="none" strike="noStrike">
                <a:solidFill>
                  <a:srgbClr val="4A148C"/>
                </a:solidFill>
                <a:latin typeface="Tahoma"/>
              </a:rPr>
              <a:t>Datas: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00" b="0" i="0" u="none" cap="none" strike="noStrike">
                <a:solidFill>
                  <a:srgbClr val="3F3F3F"/>
                </a:solidFill>
                <a:latin typeface="Tahoma"/>
              </a:rPr>
              <a:t>Converter todos os formatos para yyyy-MM-dd usando Date Formatting.</a:t>
            </a:r>
            <a:endParaRPr/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500" b="1" i="0" u="none" cap="none" strike="noStrike">
                <a:solidFill>
                  <a:srgbClr val="4A148C"/>
                </a:solidFill>
                <a:latin typeface="Tahoma"/>
              </a:rPr>
              <a:t>Status e Categorias: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00" b="0" i="0" u="none" cap="none" strike="noStrike">
                <a:solidFill>
                  <a:srgbClr val="3F3F3F"/>
                </a:solidFill>
                <a:latin typeface="Tahoma"/>
              </a:rPr>
              <a:t>TRIM + UPPER para normalizar strings.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00" b="0" i="0" u="none" cap="none" strike="noStrike">
                <a:solidFill>
                  <a:srgbClr val="3F3F3F"/>
                </a:solidFill>
                <a:latin typeface="Tahoma"/>
              </a:rPr>
              <a:t>Ex: “concluída” → “CONCLUIDA”</a:t>
            </a:r>
            <a:endParaRPr/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500" b="1" i="0" u="none" cap="none" strike="noStrike">
                <a:solidFill>
                  <a:srgbClr val="4A148C"/>
                </a:solidFill>
                <a:latin typeface="Tahoma"/>
              </a:rPr>
              <a:t>Valores monetários: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00" b="0" i="0" u="none" cap="none" strike="noStrike">
                <a:solidFill>
                  <a:srgbClr val="3F3F3F"/>
                </a:solidFill>
                <a:latin typeface="Tahoma"/>
              </a:rPr>
              <a:t>Remover “R$” e converter para Number.</a:t>
            </a:r>
            <a:endParaRPr/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500" b="1" i="0" u="none" cap="none" strike="noStrike">
                <a:solidFill>
                  <a:srgbClr val="4A148C"/>
                </a:solidFill>
                <a:latin typeface="Tahoma"/>
              </a:rPr>
              <a:t>CPF/CNPJ: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00" b="0" i="0" u="none" cap="none" strike="noStrike">
                <a:solidFill>
                  <a:srgbClr val="3F3F3F"/>
                </a:solidFill>
                <a:latin typeface="Tahoma"/>
              </a:rPr>
              <a:t>Remover pontos, traços e espaços — manter apenas dígitos.</a:t>
            </a:r>
            <a:endParaRPr/>
          </a:p>
        </p:txBody>
      </p:sp>
      <p:sp>
        <p:nvSpPr>
          <p:cNvPr id="451" name="ColorBox_451"/>
          <p:cNvSpPr txBox="1"/>
          <p:nvPr/>
        </p:nvSpPr>
        <p:spPr>
          <a:xfrm>
            <a:off x="4743450" y="1070856"/>
            <a:ext cx="3771900" cy="3500000"/>
          </a:xfrm>
          <a:prstGeom prst="rect">
            <a:avLst/>
          </a:prstGeom>
          <a:solidFill>
            <a:srgbClr val="FFF0F5"/>
          </a:solidFill>
          <a:ln>
            <a:noFill/>
          </a:ln>
        </p:spPr>
        <p:txBody>
          <a:bodyPr anchorCtr="0" anchor="t" bIns="60960" lIns="91440" spcFirstLastPara="1" rIns="91440" wrap="square" tIns="6096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800" b="1" i="0" u="none" cap="none" strike="noStrike">
                <a:solidFill>
                  <a:srgbClr val="C2185B"/>
                </a:solidFill>
                <a:latin typeface="Tahoma"/>
              </a:rPr>
              <a:t>Limpeza e Validação</a:t>
            </a:r>
            <a:endParaRPr/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500" b="1" i="0" u="none" cap="none" strike="noStrike">
                <a:solidFill>
                  <a:srgbClr val="880E4F"/>
                </a:solidFill>
                <a:latin typeface="Tahoma"/>
              </a:rPr>
              <a:t>Duplicatas: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00" b="0" i="0" u="none" cap="none" strike="noStrike">
                <a:solidFill>
                  <a:srgbClr val="3F3F3F"/>
                </a:solidFill>
                <a:latin typeface="Tahoma"/>
              </a:rPr>
              <a:t>Usar Sort Rows + Unique Rows pelo id_ de cada tabela.</a:t>
            </a:r>
            <a:endParaRPr/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500" b="1" i="0" u="none" cap="none" strike="noStrike">
                <a:solidFill>
                  <a:srgbClr val="880E4F"/>
                </a:solidFill>
                <a:latin typeface="Tahoma"/>
              </a:rPr>
              <a:t>Valores inválidos: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00" b="0" i="0" u="none" cap="none" strike="noStrike">
                <a:solidFill>
                  <a:srgbClr val="3F3F3F"/>
                </a:solidFill>
                <a:latin typeface="Tahoma"/>
              </a:rPr>
              <a:t>Filter Rows para excluir: valor ≤ 0, km &lt; 0, datas futuras.</a:t>
            </a:r>
            <a:endParaRPr/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500" b="1" i="0" u="none" cap="none" strike="noStrike">
                <a:solidFill>
                  <a:srgbClr val="880E4F"/>
                </a:solidFill>
                <a:latin typeface="Tahoma"/>
              </a:rPr>
              <a:t>Nulos: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00" b="0" i="0" u="none" cap="none" strike="noStrike">
                <a:solidFill>
                  <a:srgbClr val="3F3F3F"/>
                </a:solidFill>
                <a:latin typeface="Tahoma"/>
              </a:rPr>
              <a:t>If Field Value Is Null → substitui por “N/D” ou 0.</a:t>
            </a:r>
            <a:endParaRPr/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500" b="1" i="0" u="none" cap="none" strike="noStrike">
                <a:solidFill>
                  <a:srgbClr val="880E4F"/>
                </a:solidFill>
                <a:latin typeface="Tahoma"/>
              </a:rPr>
              <a:t>FKs inválidas: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00" b="0" i="0" u="none" cap="none" strike="noStrike">
                <a:solidFill>
                  <a:srgbClr val="3F3F3F"/>
                </a:solidFill>
                <a:latin typeface="Tahoma"/>
              </a:rPr>
              <a:t>Merge Join + Filter: linhas sem match são descartadas ou logadas.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"/>
          <p:cNvSpPr txBox="1"/>
          <p:nvPr>
            <p:ph type="title"/>
          </p:nvPr>
        </p:nvSpPr>
        <p:spPr>
          <a:xfrm>
            <a:off x="628650" y="200000"/>
            <a:ext cx="78867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rIns="68575" tIns="34275" wrap="square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1" i="0" u="none" cap="none" strike="noStrike">
                <a:solidFill>
                  <a:srgbClr val="4A148C"/>
                </a:solidFill>
                <a:latin typeface="Tahoma"/>
              </a:rPr>
              <a:t>KPIs de Vendas — Resultados Esperados</a:t>
            </a:r>
          </a:p>
        </p:txBody>
      </p:sp>
      <p:sp>
        <p:nvSpPr>
          <p:cNvPr id="300" name="K300"/>
          <p:cNvSpPr txBox="1"/>
          <p:nvPr/>
        </p:nvSpPr>
        <p:spPr>
          <a:xfrm>
            <a:off x="628650" y="1050000"/>
            <a:ext cx="1828800" cy="914400"/>
          </a:xfrm>
          <a:prstGeom prst="rect">
            <a:avLst/>
          </a:prstGeom>
          <a:solidFill>
            <a:srgbClr val="F3E5F5"/>
          </a:solidFill>
          <a:ln>
            <a:solidFill>
              <a:srgbClr val="7B1FA2"/>
            </a:solidFill>
            <a:prstDash val="solid"/>
          </a:ln>
        </p:spPr>
        <p:txBody>
          <a:bodyPr anchorCtr="0" anchor="ctr" bIns="45720" lIns="91440" rIns="91440" tIns="45720" wrap="square">
            <a:norm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lang="pt-BR" sz="2200" b="1" i="0" u="none">
                <a:solidFill>
                  <a:srgbClr val="7B1FA2"/>
                </a:solidFill>
                <a:latin typeface="Tahoma"/>
              </a:rPr>
              <a:t>357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i="0" u="none">
                <a:solidFill>
                  <a:srgbClr val="4A4A4A"/>
                </a:solidFill>
                <a:latin typeface="Tahoma"/>
              </a:rPr>
              <a:t>vendas (após limpeza)</a:t>
            </a:r>
          </a:p>
        </p:txBody>
      </p:sp>
      <p:sp>
        <p:nvSpPr>
          <p:cNvPr id="301" name="K301"/>
          <p:cNvSpPr txBox="1"/>
          <p:nvPr/>
        </p:nvSpPr>
        <p:spPr>
          <a:xfrm>
            <a:off x="2548890" y="1050000"/>
            <a:ext cx="1828800" cy="914400"/>
          </a:xfrm>
          <a:prstGeom prst="rect">
            <a:avLst/>
          </a:prstGeom>
          <a:solidFill>
            <a:srgbClr val="FCE4EC"/>
          </a:solidFill>
          <a:ln>
            <a:solidFill>
              <a:srgbClr val="C2185B"/>
            </a:solidFill>
            <a:prstDash val="solid"/>
          </a:ln>
        </p:spPr>
        <p:txBody>
          <a:bodyPr anchorCtr="0" anchor="ctr" bIns="45720" lIns="91440" rIns="91440" tIns="45720" wrap="square">
            <a:norm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lang="pt-BR" sz="2200" b="1" i="0" u="none">
                <a:solidFill>
                  <a:srgbClr val="C2185B"/>
                </a:solidFill>
                <a:latin typeface="Tahoma"/>
              </a:rPr>
              <a:t>148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i="0" u="none">
                <a:solidFill>
                  <a:srgbClr val="4A4A4A"/>
                </a:solidFill>
                <a:latin typeface="Tahoma"/>
              </a:rPr>
              <a:t>compras de reposição</a:t>
            </a:r>
          </a:p>
        </p:txBody>
      </p:sp>
      <p:sp>
        <p:nvSpPr>
          <p:cNvPr id="302" name="K302"/>
          <p:cNvSpPr txBox="1"/>
          <p:nvPr/>
        </p:nvSpPr>
        <p:spPr>
          <a:xfrm>
            <a:off x="4469130" y="1050000"/>
            <a:ext cx="1828800" cy="914400"/>
          </a:xfrm>
          <a:prstGeom prst="rect">
            <a:avLst/>
          </a:prstGeom>
          <a:solidFill>
            <a:srgbClr val="EDE7F6"/>
          </a:solidFill>
          <a:ln>
            <a:solidFill>
              <a:srgbClr val="4527A0"/>
            </a:solidFill>
            <a:prstDash val="solid"/>
          </a:ln>
        </p:spPr>
        <p:txBody>
          <a:bodyPr anchorCtr="0" anchor="ctr" bIns="45720" lIns="91440" rIns="91440" tIns="45720" wrap="square">
            <a:norm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lang="pt-BR" sz="2200" b="1" i="0" u="none">
                <a:solidFill>
                  <a:srgbClr val="4527A0"/>
                </a:solidFill>
                <a:latin typeface="Tahoma"/>
              </a:rPr>
              <a:t>R$ 86,2M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i="0" u="none">
                <a:solidFill>
                  <a:srgbClr val="4A4A4A"/>
                </a:solidFill>
                <a:latin typeface="Tahoma"/>
              </a:rPr>
              <a:t>receita total de vendas</a:t>
            </a:r>
          </a:p>
        </p:txBody>
      </p:sp>
      <p:sp>
        <p:nvSpPr>
          <p:cNvPr id="303" name="K303"/>
          <p:cNvSpPr txBox="1"/>
          <p:nvPr/>
        </p:nvSpPr>
        <p:spPr>
          <a:xfrm>
            <a:off x="6389370" y="1050000"/>
            <a:ext cx="1828800" cy="914400"/>
          </a:xfrm>
          <a:prstGeom prst="rect">
            <a:avLst/>
          </a:prstGeom>
          <a:solidFill>
            <a:srgbClr val="FCE4EC"/>
          </a:solidFill>
          <a:ln>
            <a:solidFill>
              <a:srgbClr val="AD1457"/>
            </a:solidFill>
            <a:prstDash val="solid"/>
          </a:ln>
        </p:spPr>
        <p:txBody>
          <a:bodyPr anchorCtr="0" anchor="ctr" bIns="45720" lIns="91440" rIns="91440" tIns="45720" wrap="square">
            <a:norm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lang="pt-BR" sz="2200" b="1" i="0" u="none">
                <a:solidFill>
                  <a:srgbClr val="AD1457"/>
                </a:solidFill>
                <a:latin typeface="Tahoma"/>
              </a:rPr>
              <a:t>R$ 241K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i="0" u="none">
                <a:solidFill>
                  <a:srgbClr val="4A4A4A"/>
                </a:solidFill>
                <a:latin typeface="Tahoma"/>
              </a:rPr>
              <a:t>ticket médio por venda</a:t>
            </a:r>
          </a:p>
        </p:txBody>
      </p:sp>
      <p:sp>
        <p:nvSpPr>
          <p:cNvPr id="310" name="K310"/>
          <p:cNvSpPr txBox="1"/>
          <p:nvPr/>
        </p:nvSpPr>
        <p:spPr>
          <a:xfrm>
            <a:off x="628650" y="2200000"/>
            <a:ext cx="1828800" cy="914400"/>
          </a:xfrm>
          <a:prstGeom prst="rect">
            <a:avLst/>
          </a:prstGeom>
          <a:solidFill>
            <a:srgbClr val="EDE7F6"/>
          </a:solidFill>
          <a:ln>
            <a:solidFill>
              <a:srgbClr val="512DA8"/>
            </a:solidFill>
            <a:prstDash val="solid"/>
          </a:ln>
        </p:spPr>
        <p:txBody>
          <a:bodyPr anchorCtr="0" anchor="ctr" bIns="45720" lIns="91440" rIns="91440" tIns="45720" wrap="square">
            <a:norm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lang="pt-BR" sz="2200" b="1" i="0" u="none">
                <a:solidFill>
                  <a:srgbClr val="512DA8"/>
                </a:solidFill>
                <a:latin typeface="Tahoma"/>
              </a:rPr>
              <a:t>167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i="0" u="none">
                <a:solidFill>
                  <a:srgbClr val="4A4A4A"/>
                </a:solidFill>
                <a:latin typeface="Tahoma"/>
              </a:rPr>
              <a:t>vendas em 2024</a:t>
            </a:r>
          </a:p>
        </p:txBody>
      </p:sp>
      <p:sp>
        <p:nvSpPr>
          <p:cNvPr id="311" name="K311"/>
          <p:cNvSpPr txBox="1"/>
          <p:nvPr/>
        </p:nvSpPr>
        <p:spPr>
          <a:xfrm>
            <a:off x="2548890" y="2200000"/>
            <a:ext cx="1828800" cy="914400"/>
          </a:xfrm>
          <a:prstGeom prst="rect">
            <a:avLst/>
          </a:prstGeom>
          <a:solidFill>
            <a:srgbClr val="F3E5F5"/>
          </a:solidFill>
          <a:ln>
            <a:solidFill>
              <a:srgbClr val="6A1B9A"/>
            </a:solidFill>
            <a:prstDash val="solid"/>
          </a:ln>
        </p:spPr>
        <p:txBody>
          <a:bodyPr anchorCtr="0" anchor="ctr" bIns="45720" lIns="91440" rIns="91440" tIns="45720" wrap="square">
            <a:norm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lang="pt-BR" sz="2200" b="1" i="0" u="none">
                <a:solidFill>
                  <a:srgbClr val="6A1B9A"/>
                </a:solidFill>
                <a:latin typeface="Tahoma"/>
              </a:rPr>
              <a:t>162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i="0" u="none">
                <a:solidFill>
                  <a:srgbClr val="4A4A4A"/>
                </a:solidFill>
                <a:latin typeface="Tahoma"/>
              </a:rPr>
              <a:t>vendas em 2025</a:t>
            </a:r>
          </a:p>
        </p:txBody>
      </p:sp>
      <p:sp>
        <p:nvSpPr>
          <p:cNvPr id="312" name="K312"/>
          <p:cNvSpPr txBox="1"/>
          <p:nvPr/>
        </p:nvSpPr>
        <p:spPr>
          <a:xfrm>
            <a:off x="4469130" y="2200000"/>
            <a:ext cx="1828800" cy="914400"/>
          </a:xfrm>
          <a:prstGeom prst="rect">
            <a:avLst/>
          </a:prstGeom>
          <a:solidFill>
            <a:srgbClr val="FCE4EC"/>
          </a:solidFill>
          <a:ln>
            <a:solidFill>
              <a:srgbClr val="880E4F"/>
            </a:solidFill>
            <a:prstDash val="solid"/>
          </a:ln>
        </p:spPr>
        <p:txBody>
          <a:bodyPr anchorCtr="0" anchor="ctr" bIns="45720" lIns="91440" rIns="91440" tIns="45720" wrap="square">
            <a:norm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lang="pt-BR" sz="2200" b="1" i="0" u="none">
                <a:solidFill>
                  <a:srgbClr val="880E4F"/>
                </a:solidFill>
                <a:latin typeface="Tahoma"/>
              </a:rPr>
              <a:t>28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i="0" u="none">
                <a:solidFill>
                  <a:srgbClr val="4A4A4A"/>
                </a:solidFill>
                <a:latin typeface="Tahoma"/>
              </a:rPr>
              <a:t>vendas jan-mar 2026</a:t>
            </a:r>
          </a:p>
        </p:txBody>
      </p:sp>
      <p:sp>
        <p:nvSpPr>
          <p:cNvPr id="313" name="K313"/>
          <p:cNvSpPr txBox="1"/>
          <p:nvPr/>
        </p:nvSpPr>
        <p:spPr>
          <a:xfrm>
            <a:off x="6389370" y="2200000"/>
            <a:ext cx="1828800" cy="914400"/>
          </a:xfrm>
          <a:prstGeom prst="rect">
            <a:avLst/>
          </a:prstGeom>
          <a:solidFill>
            <a:srgbClr val="FFF0F5"/>
          </a:solidFill>
          <a:ln>
            <a:solidFill>
              <a:srgbClr val="C2185B"/>
            </a:solidFill>
            <a:prstDash val="solid"/>
          </a:ln>
        </p:spPr>
        <p:txBody>
          <a:bodyPr anchorCtr="0" anchor="ctr" bIns="45720" lIns="91440" rIns="91440" tIns="45720" wrap="square">
            <a:norm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lang="pt-BR" sz="2200" b="1" i="0" u="none">
                <a:solidFill>
                  <a:srgbClr val="C2185B"/>
                </a:solidFill>
                <a:latin typeface="Tahoma"/>
              </a:rPr>
              <a:t>Silvia B.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0" i="0" u="none">
                <a:solidFill>
                  <a:srgbClr val="4A4A4A"/>
                </a:solidFill>
                <a:latin typeface="Tahoma"/>
              </a:rPr>
              <a:t>top vendedora (40 vendas)</a:t>
            </a:r>
          </a:p>
        </p:txBody>
      </p:sp>
      <p:sp>
        <p:nvSpPr>
          <p:cNvPr id="320" name="footer"/>
          <p:cNvSpPr txBox="1"/>
          <p:nvPr/>
        </p:nvSpPr>
        <p:spPr>
          <a:xfrm>
            <a:off x="628650" y="3271200"/>
            <a:ext cx="7886700" cy="68580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txBody>
          <a:bodyPr anchor="ctr" wrap="square" bIns="45720" lIns="91440" rIns="91440" tIns="4572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1" i="0" u="none">
                <a:solidFill>
                  <a:srgbClr val="7B1FA2"/>
                </a:solidFill>
                <a:latin typeface="Tahoma"/>
              </a:rPr>
              <a:t>Top Filial: Matriz  ·  R$ 15,2M  ·  64 vendas     |     Top Vendedora: Silvia Brum  ·  40 vendas  ·  R$ 9,9M</a:t>
            </a:r>
          </a:p>
        </p:txBody>
      </p:sp>
      <p:sp>
        <p:nvSpPr>
          <p:cNvPr id="321" name="footnote"/>
          <p:cNvSpPr txBox="1"/>
          <p:nvPr/>
        </p:nvSpPr>
        <p:spPr>
          <a:xfrm>
            <a:off x="628650" y="4100400"/>
            <a:ext cx="7886700" cy="400000"/>
          </a:xfrm>
          <a:prstGeom prst="rect">
            <a:avLst/>
          </a:prstGeom>
          <a:noFill/>
          <a:ln>
            <a:noFill/>
          </a:ln>
        </p:spPr>
        <p:txBody>
          <a:bodyPr anchor="ctr" wrap="square" bIns="0" lIns="91440" rIns="91440" tIns="0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0" i="1" u="none">
                <a:solidFill>
                  <a:srgbClr val="888888"/>
                </a:solidFill>
                <a:latin typeface="Tahoma"/>
              </a:rPr>
              <a:t>* Valores após remoção de duplicatas e filtragem de registros inválidos (valor ≤ 0)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2800" b="1" i="0" u="none" cap="none" strike="noStrike">
                <a:solidFill>
                  <a:srgbClr val="4A148C"/>
                </a:solidFill>
                <a:latin typeface="Tahoma"/>
              </a:rPr>
              <a:t>Perfil de Clientes</a:t>
            </a:r>
            <a:endParaRPr/>
          </a:p>
        </p:txBody>
      </p:sp>
      <p:sp>
        <p:nvSpPr>
          <p:cNvPr id="460" name="ColorBox_460"/>
          <p:cNvSpPr txBox="1"/>
          <p:nvPr/>
        </p:nvSpPr>
        <p:spPr>
          <a:xfrm>
            <a:off x="628650" y="1070856"/>
            <a:ext cx="2400300" cy="350000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txBody>
          <a:bodyPr anchorCtr="0" anchor="t" bIns="60960" lIns="91440" spcFirstLastPara="1" rIns="91440" wrap="square" tIns="6096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600" b="1" i="0" u="none" cap="none" strike="noStrike">
                <a:solidFill>
                  <a:srgbClr val="7B1FA2"/>
                </a:solidFill>
                <a:latin typeface="Tahoma"/>
              </a:rPr>
              <a:t>Tipo de Cliente</a:t>
            </a:r>
            <a:endParaRPr/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4000" b="1" i="0" u="none" cap="none" strike="noStrike">
                <a:solidFill>
                  <a:srgbClr val="7B1FA2"/>
                </a:solidFill>
                <a:latin typeface="Tahoma"/>
              </a:rPr>
              <a:t>78%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00" b="0" i="0" u="none" cap="none" strike="noStrike">
                <a:solidFill>
                  <a:srgbClr val="555555"/>
                </a:solidFill>
                <a:latin typeface="Tahoma"/>
              </a:rPr>
              <a:t>Pessoa Física (PF)</a:t>
            </a:r>
            <a:endParaRPr/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4000" b="1" i="0" u="none" cap="none" strike="noStrike">
                <a:solidFill>
                  <a:srgbClr val="4A148C"/>
                </a:solidFill>
                <a:latin typeface="Tahoma"/>
              </a:rPr>
              <a:t>22%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00" b="0" i="0" u="none" cap="none" strike="noStrike">
                <a:solidFill>
                  <a:srgbClr val="555555"/>
                </a:solidFill>
                <a:latin typeface="Tahoma"/>
              </a:rPr>
              <a:t>Pessoa Jurídica (PJ)</a:t>
            </a:r>
            <a:endParaRPr/>
          </a:p>
        </p:txBody>
      </p:sp>
      <p:sp>
        <p:nvSpPr>
          <p:cNvPr id="461" name="ColorBox_461"/>
          <p:cNvSpPr txBox="1"/>
          <p:nvPr/>
        </p:nvSpPr>
        <p:spPr>
          <a:xfrm>
            <a:off x="3257250" y="1070856"/>
            <a:ext cx="2400300" cy="350000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txBody>
          <a:bodyPr anchorCtr="0" anchor="t" bIns="60960" lIns="91440" spcFirstLastPara="1" rIns="91440" wrap="square" tIns="6096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600" b="1" i="0" u="none" cap="none" strike="noStrike">
                <a:solidFill>
                  <a:srgbClr val="C2185B"/>
                </a:solidFill>
                <a:latin typeface="Tahoma"/>
              </a:rPr>
              <a:t>Top Perfis (PF)</a:t>
            </a:r>
            <a:endParaRPr/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400" b="0" i="0" u="none" cap="none" strike="noStrike">
                <a:solidFill>
                  <a:srgbClr val="3F3F3F"/>
                </a:solidFill>
                <a:latin typeface="Tahoma"/>
              </a:rPr>
              <a:t>•  Médico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400" b="0" i="0" u="none" cap="none" strike="noStrike">
                <a:solidFill>
                  <a:srgbClr val="3F3F3F"/>
                </a:solidFill>
                <a:latin typeface="Tahoma"/>
              </a:rPr>
              <a:t>•  Engenheiro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400" b="0" i="0" u="none" cap="none" strike="noStrike">
                <a:solidFill>
                  <a:srgbClr val="3F3F3F"/>
                </a:solidFill>
                <a:latin typeface="Tahoma"/>
              </a:rPr>
              <a:t>•  Administrador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400" b="0" i="0" u="none" cap="none" strike="noStrike">
                <a:solidFill>
                  <a:srgbClr val="3F3F3F"/>
                </a:solidFill>
                <a:latin typeface="Tahoma"/>
              </a:rPr>
              <a:t>•  Advogado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400" b="0" i="0" u="none" cap="none" strike="noStrike">
                <a:solidFill>
                  <a:srgbClr val="3F3F3F"/>
                </a:solidFill>
                <a:latin typeface="Tahoma"/>
              </a:rPr>
              <a:t>•  Empresário</a:t>
            </a:r>
            <a:endParaRPr/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600" b="1" i="0" u="none" cap="none" strike="noStrike">
                <a:solidFill>
                  <a:srgbClr val="C2185B"/>
                </a:solidFill>
                <a:latin typeface="Tahoma"/>
              </a:rPr>
              <a:t>Top Segmentos (PJ)</a:t>
            </a:r>
            <a:endParaRPr/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400" b="0" i="0" u="none" cap="none" strike="noStrike">
                <a:solidFill>
                  <a:srgbClr val="3F3F3F"/>
                </a:solidFill>
                <a:latin typeface="Tahoma"/>
              </a:rPr>
              <a:t>•  Transporte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400" b="0" i="0" u="none" cap="none" strike="noStrike">
                <a:solidFill>
                  <a:srgbClr val="3F3F3F"/>
                </a:solidFill>
                <a:latin typeface="Tahoma"/>
              </a:rPr>
              <a:t>•  Construção Civil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400" b="0" i="0" u="none" cap="none" strike="noStrike">
                <a:solidFill>
                  <a:srgbClr val="3F3F3F"/>
                </a:solidFill>
                <a:latin typeface="Tahoma"/>
              </a:rPr>
              <a:t>•  Varejo</a:t>
            </a:r>
            <a:endParaRPr/>
          </a:p>
        </p:txBody>
      </p:sp>
      <p:sp>
        <p:nvSpPr>
          <p:cNvPr id="462" name="ColorBox_462"/>
          <p:cNvSpPr txBox="1"/>
          <p:nvPr/>
        </p:nvSpPr>
        <p:spPr>
          <a:xfrm>
            <a:off x="5886150" y="1070856"/>
            <a:ext cx="2629200" cy="3500000"/>
          </a:xfrm>
          <a:prstGeom prst="rect">
            <a:avLst/>
          </a:prstGeom>
          <a:solidFill>
            <a:srgbClr val="EDE7F6"/>
          </a:solidFill>
          <a:ln>
            <a:noFill/>
          </a:ln>
        </p:spPr>
        <p:txBody>
          <a:bodyPr anchorCtr="0" anchor="t" bIns="60960" lIns="91440" spcFirstLastPara="1" rIns="91440" wrap="square" tIns="6096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600" b="1" i="0" u="none" cap="none" strike="noStrike">
                <a:solidFill>
                  <a:srgbClr val="512DA8"/>
                </a:solidFill>
                <a:latin typeface="Tahoma"/>
              </a:rPr>
              <a:t>Top Cidades</a:t>
            </a:r>
            <a:endParaRPr/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400" b="0" i="0" u="none" cap="none" strike="noStrike">
                <a:solidFill>
                  <a:srgbClr val="3F3F3F"/>
                </a:solidFill>
                <a:latin typeface="Tahoma"/>
              </a:rPr>
              <a:t>•  São Paulo — SP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400" b="0" i="0" u="none" cap="none" strike="noStrike">
                <a:solidFill>
                  <a:srgbClr val="3F3F3F"/>
                </a:solidFill>
                <a:latin typeface="Tahoma"/>
              </a:rPr>
              <a:t>•  Rio de Janeiro — RJ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400" b="0" i="0" u="none" cap="none" strike="noStrike">
                <a:solidFill>
                  <a:srgbClr val="3F3F3F"/>
                </a:solidFill>
                <a:latin typeface="Tahoma"/>
              </a:rPr>
              <a:t>•  Belo Horizonte — MG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400" b="0" i="0" u="none" cap="none" strike="noStrike">
                <a:solidFill>
                  <a:srgbClr val="3F3F3F"/>
                </a:solidFill>
                <a:latin typeface="Tahoma"/>
              </a:rPr>
              <a:t>•  Curitiba — PR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400" b="0" i="0" u="none" cap="none" strike="noStrike">
                <a:solidFill>
                  <a:srgbClr val="3F3F3F"/>
                </a:solidFill>
                <a:latin typeface="Tahoma"/>
              </a:rPr>
              <a:t>•  Fortaleza — CE</a:t>
            </a:r>
            <a:endParaRPr/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600" b="1" i="0" u="none" cap="none" strike="noStrike">
                <a:solidFill>
                  <a:srgbClr val="512DA8"/>
                </a:solidFill>
                <a:latin typeface="Tahoma"/>
              </a:rPr>
              <a:t>Gênero (PF):</a:t>
            </a:r>
            <a:endParaRPr/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200" b="0" i="0" u="none" cap="none" strike="noStrike">
                <a:solidFill>
                  <a:srgbClr val="555555"/>
                </a:solidFill>
                <a:latin typeface="Tahoma"/>
              </a:rPr>
              <a:t>Campo presente, porém com inconsistências (M / Masculino / m...)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2800" b="1" i="0" u="none" cap="none" strike="noStrike">
                <a:solidFill>
                  <a:srgbClr val="4A148C"/>
                </a:solidFill>
                <a:latin typeface="Tahoma"/>
              </a:rPr>
              <a:t>Estoque e Operações — Resultados Esperados</a:t>
            </a:r>
            <a:endParaRPr/>
          </a:p>
        </p:txBody>
      </p:sp>
      <p:sp>
        <p:nvSpPr>
          <p:cNvPr id="470" name="ColorBox_470"/>
          <p:cNvSpPr txBox="1"/>
          <p:nvPr/>
        </p:nvSpPr>
        <p:spPr>
          <a:xfrm>
            <a:off x="628650" y="1070856"/>
            <a:ext cx="3657600" cy="3600000"/>
          </a:xfrm>
          <a:prstGeom prst="rect">
            <a:avLst/>
          </a:prstGeom>
          <a:solidFill>
            <a:srgbClr val="EDE7F6"/>
          </a:solidFill>
          <a:ln>
            <a:noFill/>
          </a:ln>
        </p:spPr>
        <p:txBody>
          <a:bodyPr anchorCtr="0" anchor="t" bIns="60960" lIns="91440" spcFirstLastPara="1" rIns="91440" wrap="square" tIns="6096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600" b="1" i="0" u="none" cap="none" strike="noStrike">
                <a:solidFill>
                  <a:srgbClr val="4527A0"/>
                </a:solidFill>
                <a:latin typeface="Tahoma"/>
              </a:rPr>
              <a:t>Status do Estoque (após limpeza)</a:t>
            </a:r>
            <a:endParaRPr/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500" b="1" i="0" u="none" cap="none" strike="noStrike">
                <a:solidFill>
                  <a:srgbClr val="2E7D32"/>
                </a:solidFill>
                <a:latin typeface="Tahoma"/>
              </a:rPr>
              <a:t>Disponíveis para venda: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2800" b="1" i="0" u="none" cap="none" strike="noStrike">
                <a:solidFill>
                  <a:srgbClr val="2E7D32"/>
                </a:solidFill>
                <a:latin typeface="Tahoma"/>
              </a:rPr>
              <a:t>155 veículos</a:t>
            </a:r>
            <a:endParaRPr/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500" b="1" i="0" u="none" cap="none" strike="noStrike">
                <a:solidFill>
                  <a:srgbClr val="C2185B"/>
                </a:solidFill>
                <a:latin typeface="Tahoma"/>
              </a:rPr>
              <a:t>Vendidos: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2800" b="1" i="0" u="none" cap="none" strike="noStrike">
                <a:solidFill>
                  <a:srgbClr val="C2185B"/>
                </a:solidFill>
                <a:latin typeface="Tahoma"/>
              </a:rPr>
              <a:t>79 veículos</a:t>
            </a:r>
            <a:endParaRPr/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500" b="1" i="0" u="none" cap="none" strike="noStrike">
                <a:solidFill>
                  <a:srgbClr val="F57F17"/>
                </a:solidFill>
                <a:latin typeface="Tahoma"/>
              </a:rPr>
              <a:t>Reservados: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2800" b="1" i="0" u="none" cap="none" strike="noStrike">
                <a:solidFill>
                  <a:srgbClr val="F57F17"/>
                </a:solidFill>
                <a:latin typeface="Tahoma"/>
              </a:rPr>
              <a:t>106 veículos</a:t>
            </a:r>
            <a:endParaRPr/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400" b="1" i="0" u="none" cap="none" strike="noStrike">
                <a:solidFill>
                  <a:srgbClr val="757575"/>
                </a:solidFill>
                <a:latin typeface="Tahoma"/>
              </a:rPr>
              <a:t>Em manutenção + outros: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400" b="0" i="0" u="none" cap="none" strike="noStrike">
                <a:solidFill>
                  <a:srgbClr val="757575"/>
                </a:solidFill>
                <a:latin typeface="Tahoma"/>
              </a:rPr>
              <a:t>restante do estoque</a:t>
            </a:r>
            <a:endParaRPr/>
          </a:p>
        </p:txBody>
      </p:sp>
      <p:sp>
        <p:nvSpPr>
          <p:cNvPr id="471" name="ColorBox_471"/>
          <p:cNvSpPr txBox="1"/>
          <p:nvPr/>
        </p:nvSpPr>
        <p:spPr>
          <a:xfrm>
            <a:off x="4514250" y="1070856"/>
            <a:ext cx="4000500" cy="168580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txBody>
          <a:bodyPr anchorCtr="0" anchor="t" bIns="60960" lIns="91440" spcFirstLastPara="1" rIns="91440" wrap="square" tIns="6096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600" b="1" i="0" u="none" cap="none" strike="noStrike">
                <a:solidFill>
                  <a:srgbClr val="7B1FA2"/>
                </a:solidFill>
                <a:latin typeface="Tahoma"/>
              </a:rPr>
              <a:t>Top Marcas no Estoque</a:t>
            </a:r>
            <a:endParaRPr/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00" b="0" i="0" u="none" cap="none" strike="noStrike">
                <a:solidFill>
                  <a:srgbClr val="3F3F3F"/>
                </a:solidFill>
                <a:latin typeface="Tahoma"/>
              </a:rPr>
              <a:t>Mercedes-Benz: 42   Citroën: 41   Nissan: 38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00" b="0" i="0" u="none" cap="none" strike="noStrike">
                <a:solidFill>
                  <a:srgbClr val="3F3F3F"/>
                </a:solidFill>
                <a:latin typeface="Tahoma"/>
              </a:rPr>
              <a:t>Toyota: 37   Peugeot: 34   Jeep: 34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00" b="0" i="0" u="none" cap="none" strike="noStrike">
                <a:solidFill>
                  <a:srgbClr val="3F3F3F"/>
                </a:solidFill>
                <a:latin typeface="Tahoma"/>
              </a:rPr>
              <a:t>Renault: 34   Fiat: 34</a:t>
            </a:r>
            <a:endParaRPr/>
          </a:p>
        </p:txBody>
      </p:sp>
      <p:sp>
        <p:nvSpPr>
          <p:cNvPr id="472" name="ColorBox_472"/>
          <p:cNvSpPr txBox="1"/>
          <p:nvPr/>
        </p:nvSpPr>
        <p:spPr>
          <a:xfrm>
            <a:off x="4514250" y="2870256"/>
            <a:ext cx="4000500" cy="180000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txBody>
          <a:bodyPr anchorCtr="0" anchor="t" bIns="60960" lIns="91440" spcFirstLastPara="1" rIns="91440" wrap="square" tIns="6096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600" b="1" i="0" u="none" cap="none" strike="noStrike">
                <a:solidFill>
                  <a:srgbClr val="C2185B"/>
                </a:solidFill>
                <a:latin typeface="Tahoma"/>
              </a:rPr>
              <a:t>Categoria — Antes da Limpeza</a:t>
            </a:r>
            <a:endParaRPr/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00" b="0" i="0" u="none" cap="none" strike="noStrike">
                <a:solidFill>
                  <a:srgbClr val="C62828"/>
                </a:solidFill>
                <a:latin typeface="Tahoma"/>
              </a:rPr>
              <a:t>⚠ SUV aparece como: suv / SUV / Suv / S.U.V / sv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00" b="0" i="0" u="none" cap="none" strike="noStrike">
                <a:solidFill>
                  <a:srgbClr val="C62828"/>
                </a:solidFill>
                <a:latin typeface="Tahoma"/>
              </a:rPr>
              <a:t>⚠ sedan: sedan / Sedã / SEDAN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300" b="0" i="0" u="none" cap="none" strike="noStrike">
                <a:solidFill>
                  <a:srgbClr val="C62828"/>
                </a:solidFill>
                <a:latin typeface="Tahoma"/>
              </a:rPr>
              <a:t>⚠ Novo/Usado: NOVO / novo / Novo — normalizar com TRIM+UPPER</a:t>
            </a:r>
            <a:endParaRPr/>
          </a:p>
          <a:p>
            <a:pPr>
              <a:spcBef>
                <a:spcPts val="0"/>
              </a:spcBef>
              <a:spcAft>
                <a:spcPts val="200"/>
              </a:spcAft>
              <a:buNone/>
            </a:pP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500" b="1" i="0" u="none" cap="none" strike="noStrike">
                <a:solidFill>
                  <a:srgbClr val="4A148C"/>
                </a:solidFill>
                <a:latin typeface="Tahoma"/>
              </a:rPr>
              <a:t>Tipo de Veículo (limpo):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500" b="0" i="0" u="none" cap="none" strike="noStrike">
                <a:solidFill>
                  <a:srgbClr val="3F3F3F"/>
                </a:solidFill>
                <a:latin typeface="Tahoma"/>
              </a:rPr>
              <a:t>61% Usado   ·   39% Novo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5486400" y="2743200"/>
            <a:ext cx="3200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"/>
              </a:spcAft>
              <a:buNone/>
            </a:pPr>
            <a:r>
              <a:rPr b="1" i="0" lang="pt-BR" sz="3200" u="none" cap="none" strike="noStrike">
                <a:solidFill>
                  <a:schemeClr val="lt1"/>
                </a:solidFill>
                <a:latin typeface="Tahoma"/>
              </a:rPr>
              <a:t>O Desafio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 i="0" u="none" cap="none" strike="noStrike">
                <a:solidFill>
                  <a:srgbClr val="F8BBD0"/>
                </a:solidFill>
                <a:latin typeface="Tahoma"/>
              </a:rPr>
              <a:t>Contexto · Dados · Objetivo</a:t>
            </a:r>
          </a:p>
        </p:txBody>
      </p:sp>
      <p:sp>
        <p:nvSpPr>
          <p:cNvPr id="500" name="slide_number"/>
          <p:cNvSpPr txBox="1"/>
          <p:nvPr/>
        </p:nvSpPr>
        <p:spPr>
          <a:xfrm>
            <a:off x="5486400" y="4343400"/>
            <a:ext cx="3200400" cy="342900"/>
          </a:xfrm>
          <a:prstGeom prst="rect">
            <a:avLst/>
          </a:prstGeom>
          <a:noFill/>
          <a:ln>
            <a:noFill/>
          </a:ln>
        </p:spPr>
        <p:txBody>
          <a:bodyPr anchor="b" wrap="square" bIns="34275" lIns="68575" rIns="68575" tIns="34275">
            <a:noAutofit/>
          </a:bodyPr>
          <a:lstStyle/>
          <a:p>
            <a:pPr algn="l">
              <a:buNone/>
              <a:spcBef>
                <a:spcPts val="0"/>
              </a:spcBef>
              <a:spcAft>
                <a:spcPts val="0"/>
              </a:spcAft>
            </a:pPr>
            <a:r>
              <a:rPr lang="pt-BR" sz="1000" b="0" i="0" u="none">
                <a:solidFill>
                  <a:srgbClr val="F48FB1"/>
                </a:solidFill>
                <a:latin typeface="Tahoma"/>
              </a:rPr>
              <a:t>Ciência de Dados · CEUB · 2025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5486400" y="2743200"/>
            <a:ext cx="3200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"/>
              </a:spcAft>
              <a:buNone/>
            </a:pPr>
            <a:r>
              <a:rPr b="1" i="0" lang="pt-BR" sz="3200" u="none" cap="none" strike="noStrike">
                <a:solidFill>
                  <a:schemeClr val="lt1"/>
                </a:solidFill>
                <a:latin typeface="Tahoma"/>
              </a:rPr>
              <a:t>A Pipeline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 i="0" u="none" cap="none" strike="noStrike">
                <a:solidFill>
                  <a:srgbClr val="F8BBD0"/>
                </a:solidFill>
                <a:latin typeface="Tahoma"/>
              </a:rPr>
              <a:t>Etapas no Pentaho · ETL</a:t>
            </a:r>
          </a:p>
        </p:txBody>
      </p:sp>
      <p:sp>
        <p:nvSpPr>
          <p:cNvPr id="500" name="slide_number"/>
          <p:cNvSpPr txBox="1"/>
          <p:nvPr/>
        </p:nvSpPr>
        <p:spPr>
          <a:xfrm>
            <a:off x="5486400" y="4343400"/>
            <a:ext cx="3200400" cy="342900"/>
          </a:xfrm>
          <a:prstGeom prst="rect">
            <a:avLst/>
          </a:prstGeom>
          <a:noFill/>
          <a:ln>
            <a:noFill/>
          </a:ln>
        </p:spPr>
        <p:txBody>
          <a:bodyPr anchor="b" wrap="square" bIns="34275" lIns="68575" rIns="68575" tIns="34275">
            <a:noAutofit/>
          </a:bodyPr>
          <a:lstStyle/>
          <a:p>
            <a:pPr algn="l">
              <a:buNone/>
              <a:spcBef>
                <a:spcPts val="0"/>
              </a:spcBef>
              <a:spcAft>
                <a:spcPts val="0"/>
              </a:spcAft>
            </a:pPr>
            <a:r>
              <a:rPr lang="pt-BR" sz="1000" b="0" i="0" u="none">
                <a:solidFill>
                  <a:srgbClr val="F48FB1"/>
                </a:solidFill>
                <a:latin typeface="Tahoma"/>
              </a:rPr>
              <a:t>Ciência de Dados · CEUB · 2025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5486400" y="2743200"/>
            <a:ext cx="3200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"/>
              </a:spcAft>
              <a:buNone/>
            </a:pPr>
            <a:r>
              <a:rPr b="1" i="0" lang="pt-BR" sz="3200" u="none" cap="none" strike="noStrike">
                <a:solidFill>
                  <a:schemeClr val="lt1"/>
                </a:solidFill>
                <a:latin typeface="Tahoma"/>
              </a:rPr>
              <a:t>Indicadores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0" i="0" u="none" cap="none" strike="noStrike">
                <a:solidFill>
                  <a:srgbClr val="F8BBD0"/>
                </a:solidFill>
                <a:latin typeface="Tahoma"/>
              </a:rPr>
              <a:t>Resultados Esperados · KPIs</a:t>
            </a:r>
          </a:p>
        </p:txBody>
      </p:sp>
      <p:sp>
        <p:nvSpPr>
          <p:cNvPr id="500" name="slide_number"/>
          <p:cNvSpPr txBox="1"/>
          <p:nvPr/>
        </p:nvSpPr>
        <p:spPr>
          <a:xfrm>
            <a:off x="5486400" y="4343400"/>
            <a:ext cx="3200400" cy="342900"/>
          </a:xfrm>
          <a:prstGeom prst="rect">
            <a:avLst/>
          </a:prstGeom>
          <a:noFill/>
          <a:ln>
            <a:noFill/>
          </a:ln>
        </p:spPr>
        <p:txBody>
          <a:bodyPr anchor="b" wrap="square" bIns="34275" lIns="68575" rIns="68575" tIns="34275">
            <a:noAutofit/>
          </a:bodyPr>
          <a:lstStyle/>
          <a:p>
            <a:pPr algn="l">
              <a:buNone/>
              <a:spcBef>
                <a:spcPts val="0"/>
              </a:spcBef>
              <a:spcAft>
                <a:spcPts val="0"/>
              </a:spcAft>
            </a:pPr>
            <a:r>
              <a:rPr lang="pt-BR" sz="1000" b="0" i="0" u="none">
                <a:solidFill>
                  <a:srgbClr val="F48FB1"/>
                </a:solidFill>
                <a:latin typeface="Tahoma"/>
              </a:rPr>
              <a:t>Ciência de Dados · CEUB ·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