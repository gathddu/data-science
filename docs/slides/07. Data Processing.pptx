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61" r:id="rId7"/>
    <p:sldId id="262" r:id="rId6"/>
    <p:sldId id="263" r:id="rId11"/>
    <p:sldId id="264" r:id="rId13"/>
    <p:sldId id="265" r:id="rId14"/>
    <p:sldId id="266" r:id="rId15"/>
    <p:sldId id="267" r:id="rId12"/>
    <p:sldId id="268" r:id="rId16"/>
    <p:sldId id="269" r:id="rId18"/>
    <p:sldId id="270" r:id="rId17"/>
    <p:sldId id="271" r:id="rId20"/>
    <p:sldId id="272" r:id="rId21"/>
    <p:sldId id="273" r:id="rId22"/>
    <p:sldId id="274" r:id="rId19"/>
    <p:sldId id="259" r:id="rId8"/>
  </p:sldIdLst>
  <p:sldSz cy="5143500" cx="9144000"/>
  <p:notesSz cx="6858000" cy="9144000"/>
  <p:embeddedFontLst>
    <p:embeddedFont>
      <p:font typeface="Tahoma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0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Tahom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Tahoma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Tahoma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869200" y="-1169694"/>
            <a:ext cx="34056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b="1" i="0" sz="24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75927" l="62821" r="3833" t="0"/>
          <a:stretch/>
        </p:blipFill>
        <p:spPr>
          <a:xfrm>
            <a:off x="6765326" y="0"/>
            <a:ext cx="2310714" cy="93911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5720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400000" y="3300000"/>
            <a:ext cx="36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chemeClr val="lt1"/>
                </a:solidFill>
                <a:latin typeface="Tahoma"/>
              </a:rPr>
              <a:t>O que é Regex?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1F4E79"/>
                </a:solidFill>
                <a:latin typeface="Tahoma"/>
              </a:rPr>
              <a:t>Agenda</a:t>
            </a: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0" i="0" lang="pt-BR" sz="1800" u="none" cap="none" strike="noStrike">
                <a:solidFill>
                  <a:srgbClr val="3F3F3F"/>
                </a:solidFill>
                <a:latin typeface="Tahoma"/>
              </a:rPr>
              <a:t>O que é Regex?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0" i="0" lang="pt-BR" sz="1800" u="none" cap="none" strike="noStrike">
                <a:solidFill>
                  <a:srgbClr val="3F3F3F"/>
                </a:solidFill>
                <a:latin typeface="Tahoma"/>
              </a:rPr>
              <a:t>Metacaracteres e Classes de Caracteres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0" i="0" lang="pt-BR" sz="1800" u="none" cap="none" strike="noStrike">
                <a:solidFill>
                  <a:srgbClr val="3F3F3F"/>
                </a:solidFill>
                <a:latin typeface="Tahoma"/>
              </a:rPr>
              <a:t>Quantificadores e Âncoras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0" i="0" lang="pt-BR" sz="1800" u="none" cap="none" strike="noStrike">
                <a:solidFill>
                  <a:srgbClr val="3F3F3F"/>
                </a:solidFill>
                <a:latin typeface="Tahoma"/>
              </a:rPr>
              <a:t>Grupos e Captura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0" i="0" lang="pt-BR" sz="1800" u="none" cap="none" strike="noStrike">
                <a:solidFill>
                  <a:srgbClr val="3F3F3F"/>
                </a:solidFill>
                <a:latin typeface="Tahoma"/>
              </a:rPr>
              <a:t>Regex no Python (módulo re)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0" i="0" lang="pt-BR" sz="1800" u="none" cap="none" strike="noStrike">
                <a:solidFill>
                  <a:srgbClr val="3F3F3F"/>
                </a:solidFill>
                <a:latin typeface="Tahoma"/>
              </a:rPr>
              <a:t>Limpeza, Validação e Extração de Dados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0" i="0" lang="pt-BR" sz="1800" u="none" cap="none" strike="noStrike">
                <a:solidFill>
                  <a:srgbClr val="3F3F3F"/>
                </a:solidFill>
                <a:latin typeface="Tahoma"/>
              </a:rPr>
              <a:t>Exercícios Práticos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532" y="-1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1F4E79"/>
                </a:solidFill>
                <a:latin typeface="Tahoma"/>
              </a:rPr>
              <a:t>O que é uma Expressão Regular?</a:t>
            </a: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0" lang="pt-BR" sz="1600">
                <a:solidFill>
                  <a:srgbClr val="3F3F3F"/>
                </a:solidFill>
                <a:latin typeface="Tahoma"/>
              </a:rPr>
              <a:t>Sequência de caracteres que define um padrão de busca em textos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0" lang="pt-BR" sz="1600">
                <a:solidFill>
                  <a:srgbClr val="3F3F3F"/>
                </a:solidFill>
                <a:latin typeface="Tahoma"/>
              </a:rPr>
              <a:t>Usada para: buscar, extrair, substituir e validar dados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0" lang="pt-BR" sz="1600">
                <a:solidFill>
                  <a:srgbClr val="3F3F3F"/>
                </a:solidFill>
                <a:latin typeface="Tahoma"/>
              </a:rPr>
              <a:t>Criada por Stephen Kleene na década de 1950 — presente em quase todas as linguagens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Sintaxe básica: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\d{3}\.\d{3}\.\d{3}-\d{2}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→ valida CPF brasileiro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Literal: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gato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→ encontra exatamente a palavra “gato”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400000" y="3300000"/>
            <a:ext cx="36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chemeClr val="lt1"/>
                </a:solidFill>
                <a:latin typeface="Tahoma"/>
              </a:rPr>
              <a:t>Regex no Python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1F4E79"/>
                </a:solidFill>
                <a:latin typeface="Tahoma"/>
              </a:rPr>
              <a:t>Metacaracteres e Classes de Caracteres</a:t>
            </a: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3F3F3F"/>
                </a:solidFill>
                <a:latin typeface="Consolas"/>
              </a:rPr>
              <a:t>.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 → qualquer caractere (exceto nova linha)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3F3F3F"/>
                </a:solidFill>
                <a:latin typeface="Consolas"/>
              </a:rPr>
              <a:t>\d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 → dígito [0-9]  | 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\D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 → não dígito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3F3F3F"/>
                </a:solidFill>
                <a:latin typeface="Consolas"/>
              </a:rPr>
              <a:t>\w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 → palavra [a-zA-Z0-9_]  | 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\W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 → não palavra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3F3F3F"/>
                </a:solidFill>
                <a:latin typeface="Consolas"/>
              </a:rPr>
              <a:t>\s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 → espaço em branco  | 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\S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 → não espaço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3F3F3F"/>
                </a:solidFill>
                <a:latin typeface="Consolas"/>
              </a:rPr>
              <a:t>[abc]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 → a, b ou c  | 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[^abc]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 → nenhum de a, b ou c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3F3F3F"/>
                </a:solidFill>
                <a:latin typeface="Consolas"/>
              </a:rPr>
              <a:t>[a-z]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 → letra minúscula  | 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[A-Z]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 → letra maiúscula  | 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[0-9]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 → dígito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500">
                <a:solidFill>
                  <a:srgbClr val="1F4E79"/>
                </a:solidFill>
                <a:latin typeface="Tahoma"/>
              </a:rPr>
              <a:t xml:space="preserve">Dica: 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use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re.IGNORECASE</a:t>
            </a:r>
            <a:r>
              <a:rPr b="0" lang="pt-BR" sz="1500">
                <a:solidFill>
                  <a:srgbClr val="3F3F3F"/>
                </a:solidFill>
                <a:latin typeface="Tahoma"/>
              </a:rPr>
              <a:t xml:space="preserve"> para ignorar maiúsculas/minúsculas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1F4E79"/>
                </a:solidFill>
                <a:latin typeface="Tahoma"/>
              </a:rPr>
              <a:t>Quantificadores</a:t>
            </a: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*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zero ou mais repetições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+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uma ou mais repetições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?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zero ou uma repetição (opcional)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{n}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exatamente n repetições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{n,m}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entre n e m repetições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Guloso vs. Preguiçoso: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.*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captura o máximo possível;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.*?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captura o mínimo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Exemplo: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\d{5}-\d{3}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→ valida CEP brasileiro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1F4E79"/>
                </a:solidFill>
                <a:latin typeface="Tahoma"/>
              </a:rPr>
              <a:t>Âncoras e Grupos</a:t>
            </a: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^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início da string/linha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$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fim da string/linha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\b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limite de palavra (word boundary)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Grupos de Captura: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()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cria um grupo;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(?P&lt;nome&gt;...)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grupo nomeado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Alternância: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gato|cão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→ gato OU cão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Exemplo data: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^\d{2}\/\d{2}\/\d{4}$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→ valida DD/MM/AAAA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1F4E79"/>
                </a:solidFill>
                <a:latin typeface="Tahoma"/>
              </a:rPr>
              <a:t>Módulo re do Python</a:t>
            </a: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Importação: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import re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re.match()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busca padrão no início da string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re.search()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busca em qualquer posição da string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re.findall()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retorna lista com todas as ocorrências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re.finditer()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retorna iterador com objetos Match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re.sub()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substitui ocorrências pelo texto desejado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re.split()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divide a string usando o padrão como separador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Dica: 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use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re.compile()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para reutilizar padrões e melhorar a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4800000" y="3200000"/>
            <a:ext cx="4200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Tahoma"/>
              </a:rPr>
              <a:t>Tratamento de Dados com Regex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1F4E79"/>
                </a:solidFill>
                <a:latin typeface="Tahoma"/>
              </a:rPr>
              <a:t>Trabalhando com Grupos de Captura</a:t>
            </a: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match.group(0)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texto completo encontrado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match.group(1)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primeiro grupo capturado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match.groups()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tupla com todos os grupos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3F3F3F"/>
                </a:solidFill>
                <a:latin typeface="Consolas"/>
              </a:rPr>
              <a:t>match.groupdict()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  → dicionário com grupos nomeados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Exemplo — capturar dia, mês e ano: </a:t>
            </a:r>
          </a:p>
          <a:p>
            <a:pPr indent="0" lvl="0" marL="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3F3F3F"/>
                </a:solidFill>
                <a:latin typeface="Consolas"/>
              </a:rPr>
              <a:t>m = re.search(r'(\d{2})/(\d{2})/(\d{4})', “25/12/2025”)</a:t>
            </a:r>
          </a:p>
          <a:p>
            <a:pPr indent="0" lvl="0" marL="0" rtl="0" algn="l">
              <a:lnSpc>
                <a:spcPct val="9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b="0" lang="pt-BR" sz="1500">
                <a:solidFill>
                  <a:srgbClr val="3F3F3F"/>
                </a:solidFill>
                <a:latin typeface="Consolas"/>
              </a:rPr>
              <a:t>m.groups()  # ('25', '12', '2025')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No pandas: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df['col'].str.extract(r'(\d{4})')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4800000" y="3300000"/>
            <a:ext cx="42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chemeClr val="lt1"/>
                </a:solidFill>
                <a:latin typeface="Tahoma"/>
              </a:rPr>
              <a:t>Exercícios Práticos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1F4E79"/>
                </a:solidFill>
                <a:latin typeface="Tahoma"/>
              </a:rPr>
              <a:t>Limpeza de Dados com Regex</a:t>
            </a: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Remover caracteres especiais: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re.sub(r'[^\w\s]', '', texto)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Normalizar espaços: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re.sub(r'\s+', ' ', texto).strip()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Remover tags HTML: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re.sub(r'&lt;[^&gt;]+&gt;', '', html)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Limpar telefone: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re.sub(r'[^0-9]', '', fone)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Converter data AAAA-MM-DD para DD/MM/AAAA: </a:t>
            </a:r>
          </a:p>
          <a:p>
            <a:pPr indent="0" lvl="0" marL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3F3F3F"/>
                </a:solidFill>
                <a:latin typeface="Consolas"/>
              </a:rPr>
              <a:t>re.sub(r'(\d{4})-(\d{2})-(\d{2})', r'\3/\2/\1', data)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Atenção: 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Regex não remove acentos — use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unicodedata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para isso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1F4E79"/>
                </a:solidFill>
                <a:latin typeface="Tahoma"/>
              </a:rPr>
              <a:t>Validação de Dados com Regex</a:t>
            </a: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E-mail: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r'^[\w.-]+@[\w.-]+\.[a-z]{2,}$'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CPF: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r'^\d{3}\.\d{3}\.\d{3}-\d{2}$'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CEP: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r'^\d{5}-\d{3}$'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Telefone BR: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r'^\(?\d{2}\)?\s?\d{4,5}-?\d{4}$'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URL: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r'https?://[\w.-]+\.[a-z]{2,}(/[\w/?=&amp;%.-]*)?'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Dica: 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use </a:t>
            </a:r>
            <a:r>
              <a:rPr b="0" lang="pt-BR" sz="1600">
                <a:solidFill>
                  <a:srgbClr val="3F3F3F"/>
                </a:solidFill>
                <a:latin typeface="Consolas"/>
              </a:rPr>
              <a:t>re.fullmatch()</a:t>
            </a:r>
            <a:r>
              <a:rPr b="0" lang="pt-BR" sz="1600">
                <a:solidFill>
                  <a:srgbClr val="3F3F3F"/>
                </a:solidFill>
                <a:latin typeface="Tahoma"/>
              </a:rPr>
              <a:t xml:space="preserve"> para validar o campo completo (sem ^ e $)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1F4E79"/>
                </a:solidFill>
                <a:latin typeface="Tahoma"/>
              </a:rPr>
              <a:t>Extração de Informações com Regex</a:t>
            </a: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E-mails: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re.findall(r'[\w.-]+@[\w.-]+\.\w{2,}', texto)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Valores monetários: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re.findall(r'R\$\s?\d+[,.]?\d{0,2}', texto)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Datas: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re.findall(r'\d{2}/\d{2}/\d{4}', texto)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Hashtags: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re.findall(r'#\w+', texto)</a:t>
            </a:r>
          </a:p>
          <a:p>
            <a:pPr indent="0" lvl="0" marL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Endereços IP: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re.findall(r'\b\d{1,3}\.\d{1,3}\.\d{1,3}\.\d{1,3}\b', texto)</a:t>
            </a: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●"/>
            </a:pPr>
            <a:r>
              <a:rPr b="1" lang="pt-BR" sz="1600">
                <a:solidFill>
                  <a:srgbClr val="1F4E79"/>
                </a:solidFill>
                <a:latin typeface="Tahoma"/>
              </a:rPr>
              <a:t xml:space="preserve">Com pandas: </a:t>
            </a:r>
            <a:r>
              <a:rPr b="0" lang="pt-BR" sz="1500">
                <a:solidFill>
                  <a:srgbClr val="3F3F3F"/>
                </a:solidFill>
                <a:latin typeface="Consolas"/>
              </a:rPr>
              <a:t>df['col'].str.extract(r'([\w.-]+@[\w.-]+)')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