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97280"/>
            <a:ext cx="54864" cy="29260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097280"/>
            <a:ext cx="2286000" cy="320040"/>
          </a:xfrm>
          <a:prstGeom prst="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CIÊNCIA DE DADOS · CEUB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ETL e ELT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E8"/>
                </a:solidFill>
              </a:rPr>
              <a:t>Fundamentos, Casos de Uso e Ferramentas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3B8"/>
                </a:solidFill>
              </a:rPr>
              <a:t>Databricks &amp; Pentaho na Prática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8"/>
                </a:solidFill>
              </a:rPr>
              <a:t>Prof. Dan Lopes  |  Centro Universitário de Brasília  |  TCC – Ciência de Dados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731520"/>
            <a:ext cx="1645920" cy="1645920"/>
          </a:xfrm>
          <a:prstGeom prst="ellipse">
            <a:avLst/>
          </a:prstGeom>
          <a:solidFill>
            <a:srgbClr val="00A8E8">
              <a:alpha val="15000"/>
            </a:srgbClr>
          </a:solidFill>
          <a:ln w="25400">
            <a:solidFill>
              <a:srgbClr val="00A8E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2103120"/>
            <a:ext cx="2011680" cy="2011680"/>
          </a:xfrm>
          <a:prstGeom prst="ellipse">
            <a:avLst/>
          </a:prstGeom>
          <a:solidFill>
            <a:srgbClr val="00C896">
              <a:alpha val="12000"/>
            </a:srgbClr>
          </a:solidFill>
          <a:ln w="25400">
            <a:solidFill>
              <a:srgbClr val="00C896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0" y="3474720"/>
            <a:ext cx="1371600" cy="1371600"/>
          </a:xfrm>
          <a:prstGeom prst="ellipse">
            <a:avLst/>
          </a:prstGeom>
          <a:solidFill>
            <a:srgbClr val="FF6B35">
              <a:alpha val="15000"/>
            </a:srgbClr>
          </a:solidFill>
          <a:ln w="254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7315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E8"/>
                </a:solidFill>
              </a:rPr>
              <a:t>FONTE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TRANS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FORMAR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0" y="3474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DESTINO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 da Aula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051560"/>
          </a:xfrm>
          <a:prstGeom prst="rect">
            <a:avLst/>
          </a:prstGeom>
          <a:solidFill>
            <a:srgbClr val="1E3252"/>
          </a:solidFill>
          <a:ln w="12700">
            <a:solidFill>
              <a:srgbClr val="1E325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0515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E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que é ETL?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Conceito e fases do processo clássico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114800" cy="1051560"/>
          </a:xfrm>
          <a:prstGeom prst="rect">
            <a:avLst/>
          </a:prstGeom>
          <a:solidFill>
            <a:srgbClr val="1E3252"/>
          </a:solidFill>
          <a:ln w="12700">
            <a:solidFill>
              <a:srgbClr val="1E325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64008" cy="10515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que é ELT?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Paradigma moderno e diferenças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4114800" cy="1051560"/>
          </a:xfrm>
          <a:prstGeom prst="rect">
            <a:avLst/>
          </a:prstGeom>
          <a:solidFill>
            <a:srgbClr val="1E3252"/>
          </a:solidFill>
          <a:ln w="12700">
            <a:solidFill>
              <a:srgbClr val="1E325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64008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47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" y="3886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ETL vs ELT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Comparativo e quando usar cada 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51560"/>
          </a:xfrm>
          <a:prstGeom prst="rect">
            <a:avLst/>
          </a:prstGeom>
          <a:solidFill>
            <a:srgbClr val="1E3252"/>
          </a:solidFill>
          <a:ln w="12700">
            <a:solidFill>
              <a:srgbClr val="1E325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05840"/>
            <a:ext cx="64008" cy="10515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078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E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1417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Databricks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Plataforma cloud para ETL/ELT escalável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40280"/>
            <a:ext cx="4114800" cy="1051560"/>
          </a:xfrm>
          <a:prstGeom prst="rect">
            <a:avLst/>
          </a:prstGeom>
          <a:solidFill>
            <a:srgbClr val="1E3252"/>
          </a:solidFill>
          <a:ln w="12700">
            <a:solidFill>
              <a:srgbClr val="1E325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240280"/>
            <a:ext cx="64008" cy="10515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3134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83480" y="2651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Pentaho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Ferramenta open-source para ETL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4114800" cy="1051560"/>
          </a:xfrm>
          <a:prstGeom prst="rect">
            <a:avLst/>
          </a:prstGeom>
          <a:solidFill>
            <a:srgbClr val="1E3252"/>
          </a:solidFill>
          <a:ln w="12700">
            <a:solidFill>
              <a:srgbClr val="1E325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74720"/>
            <a:ext cx="64008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5478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83480" y="3886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Casos de Uso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83480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Exemplos reais e aplicações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que é ETL?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E8"/>
                </a:solidFill>
              </a:rPr>
              <a:t>Extract · Transform · Load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2377440"/>
          </a:xfrm>
          <a:prstGeom prst="rect">
            <a:avLst/>
          </a:prstGeom>
          <a:solidFill>
            <a:srgbClr val="1E3252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Extração de dados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fontes heterogêneas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(BD, APIs, arquivos,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webscraping)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2423160"/>
            <a:ext cx="201168" cy="54864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2350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1417320"/>
            <a:ext cx="2651760" cy="2377440"/>
          </a:xfrm>
          <a:prstGeom prst="rect">
            <a:avLst/>
          </a:prstGeom>
          <a:solidFill>
            <a:srgbClr val="1E32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417320"/>
            <a:ext cx="265176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9856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Limpeza, padronização,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enriquecimento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transformação 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dados em área staging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61888" y="2423160"/>
            <a:ext cx="201168" cy="54864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2350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417320"/>
            <a:ext cx="2651760" cy="2377440"/>
          </a:xfrm>
          <a:prstGeom prst="rect">
            <a:avLst/>
          </a:prstGeom>
          <a:solidFill>
            <a:srgbClr val="1E3252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417320"/>
            <a:ext cx="265176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2784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Carregamento 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dados tratados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destino final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(DW, Data Mart)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💡  A transformação ocorre ANTES do carregamento, em uma área intermediária (staging area). Ideal quando os dados precisam ser altamente tratados antes de serem armazenados.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 que é ELT?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896"/>
                </a:solidFill>
              </a:rPr>
              <a:t>Extract · Load · Transform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51760" cy="2377440"/>
          </a:xfrm>
          <a:prstGeom prst="rect">
            <a:avLst/>
          </a:prstGeom>
          <a:solidFill>
            <a:srgbClr val="1E3252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EXTRACT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Extração dos dados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brutos de múltiplas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fontes (streaming,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lotes, APIs)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2423160"/>
            <a:ext cx="201168" cy="54864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8688" y="2350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1417320"/>
            <a:ext cx="2651760" cy="2377440"/>
          </a:xfrm>
          <a:prstGeom prst="rect">
            <a:avLst/>
          </a:prstGeom>
          <a:solidFill>
            <a:srgbClr val="1E3252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0128" y="1417320"/>
            <a:ext cx="265176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9856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Carregamento imediato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dos dados brutos 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destino (Data Lake,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Data Warehouse cloud)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61888" y="2423160"/>
            <a:ext cx="201168" cy="54864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23500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63056" y="1417320"/>
            <a:ext cx="2651760" cy="2377440"/>
          </a:xfrm>
          <a:prstGeom prst="rect">
            <a:avLst/>
          </a:prstGeom>
          <a:solidFill>
            <a:srgbClr val="1E3252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1417320"/>
            <a:ext cx="265176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2784" y="192024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Transformação feita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DENTRO do destino,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usando SQL, Spark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ou ferramentas nativas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💡  A transformação ocorre DENTRO do destino, aproveitando o poder computacional do Data Warehouse ou Data Lake. Ideal para ambientes cloud com grandes volumes de dados.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ETL vs ELT — Comparativo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solidFill>
            <a:srgbClr val="1A2D4A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Critério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051560"/>
            <a:ext cx="3200400" cy="457200"/>
          </a:xfrm>
          <a:prstGeom prst="rect">
            <a:avLst/>
          </a:prstGeom>
          <a:solidFill>
            <a:srgbClr val="1A2D4A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051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ETL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051560"/>
            <a:ext cx="3200400" cy="457200"/>
          </a:xfrm>
          <a:prstGeom prst="rect">
            <a:avLst/>
          </a:prstGeom>
          <a:solidFill>
            <a:srgbClr val="1A2D4A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051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27048"/>
            <a:ext cx="201168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270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B8"/>
                </a:solidFill>
              </a:rPr>
              <a:t>Ordem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527048"/>
            <a:ext cx="320040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527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Extrai → Transforma → Carrega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1527048"/>
            <a:ext cx="320040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5270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Extrai → Carrega → Transforma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002536"/>
            <a:ext cx="201168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00253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B8"/>
                </a:solidFill>
              </a:rPr>
              <a:t>Onde transforma?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002536"/>
            <a:ext cx="320040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002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Servidor ETL / staging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2002536"/>
            <a:ext cx="320040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00253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Dentro do destino (cloud)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478024"/>
            <a:ext cx="201168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7802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B8"/>
                </a:solidFill>
              </a:rPr>
              <a:t>Volume de dados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0" y="2478024"/>
            <a:ext cx="320040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4780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Adequado a volumes médios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0" y="2478024"/>
            <a:ext cx="320040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4780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Escala para Big Data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953512"/>
            <a:ext cx="201168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9535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B8"/>
                </a:solidFill>
              </a:rPr>
              <a:t>Custo de infra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2953512"/>
            <a:ext cx="320040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2953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Maior (servidor dedicado)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0" y="2953512"/>
            <a:ext cx="320040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953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Menor (usa infra do destino)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429000"/>
            <a:ext cx="201168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4290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B8"/>
                </a:solidFill>
              </a:rPr>
              <a:t>Flexibilidade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0" y="3429000"/>
            <a:ext cx="320040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7744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Esquema fixo pré-definido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0" y="3429000"/>
            <a:ext cx="320040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Schema-on-read, mais flexível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3904488"/>
            <a:ext cx="201168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9044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B8"/>
                </a:solidFill>
              </a:rPr>
              <a:t>Ferramentas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286000" y="3904488"/>
            <a:ext cx="320040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39044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Pentaho, Talend, SSIS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0" y="3904488"/>
            <a:ext cx="3200400" cy="457200"/>
          </a:xfrm>
          <a:prstGeom prst="rect">
            <a:avLst/>
          </a:prstGeom>
          <a:solidFill>
            <a:srgbClr val="1E3252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39044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Databricks, dbt, BigQuery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379976"/>
            <a:ext cx="201168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37997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3B8"/>
                </a:solidFill>
              </a:rPr>
              <a:t>Quando usar?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0" y="4379976"/>
            <a:ext cx="320040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7440" y="43799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E8"/>
                </a:solidFill>
              </a:rPr>
              <a:t>DW corporativo legado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0" y="4379976"/>
            <a:ext cx="3200400" cy="457200"/>
          </a:xfrm>
          <a:prstGeom prst="rect">
            <a:avLst/>
          </a:prstGeom>
          <a:solidFill>
            <a:srgbClr val="152238"/>
          </a:solidFill>
          <a:ln w="6350">
            <a:solidFill>
              <a:srgbClr val="1A2D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437997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Data Lake, cloud,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Databricks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8C69"/>
                </a:solidFill>
              </a:rPr>
              <a:t>Plataforma Unificada para Analytics &amp; 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560320"/>
          </a:xfrm>
          <a:prstGeom prst="rect">
            <a:avLst/>
          </a:prstGeom>
          <a:solidFill>
            <a:srgbClr val="1E3252"/>
          </a:solidFill>
          <a:ln w="12700">
            <a:solidFill>
              <a:srgbClr val="1E325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 que é o Databricks?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Plataforma cloud criada pelos criadores do Apache Spark
</a:t>
            </a:r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Suporta Python, Scala, SQL e R
</a:t>
            </a:r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Integra dados, IA e colaboração em um único ambiente
</a:t>
            </a:r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Arquitetura Delta Lake para confiabilidade ACID
</a:t>
            </a:r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Disponível em AWS, Azure e GCP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2011680" cy="1188720"/>
          </a:xfrm>
          <a:prstGeom prst="rect">
            <a:avLst/>
          </a:prstGeom>
          <a:solidFill>
            <a:srgbClr val="1E3252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2011680" cy="5486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Pipelines ETL/ELT com Spark e Delta Lake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2011680" cy="1188720"/>
          </a:xfrm>
          <a:prstGeom prst="rect">
            <a:avLst/>
          </a:prstGeom>
          <a:solidFill>
            <a:srgbClr val="1E3252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03720" y="1371600"/>
            <a:ext cx="201168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Science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Notebooks colaborativos com MLflow integrado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2011680" cy="1188720"/>
          </a:xfrm>
          <a:prstGeom prst="rect">
            <a:avLst/>
          </a:prstGeom>
          <a:solidFill>
            <a:srgbClr val="1E3252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43200"/>
            <a:ext cx="20116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 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Queries SQL sobre Data Lakehouse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2743200"/>
            <a:ext cx="2011680" cy="1188720"/>
          </a:xfrm>
          <a:prstGeom prst="rect">
            <a:avLst/>
          </a:prstGeom>
          <a:solidFill>
            <a:srgbClr val="1E3252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2743200"/>
            <a:ext cx="20116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AutoML, Feature Store e Model Registry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🏆  Gartner Magic Quadrant Leader — Data Science &amp; ML Platforms por 3 anos consecutivos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Databricks — Exemplo ELT Prático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8C69"/>
                </a:solidFill>
              </a:rPr>
              <a:t>Pipeline Delta Lake com Apache Spark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30352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30352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Python  |  Databricks Notebook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EXTRACT — Leitura de CSV bruto do Data Lake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df_raw = spark.read.format(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"csv"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).option(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"header", "true").load(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"/mnt/datalake/raw/vendas/*.csv")
</a:t>
            </a:r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LOAD — Salva em formato Delta (bruto)
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df_raw.write.format(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"delta"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).mode(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"overwrite").save(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"/mnt/datalake/bronze/vendas")
</a:t>
            </a:r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TRANSFORM — SQL dentro do Databricks
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df_gold = spark.sql(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produto, regiao,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SUM(valor) AS total_vendas,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AVG(valor) AS ticket_medio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delta.`/mnt/datalake/bronze/vendas`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GROUP BY 1, 2""")
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df_gold.write.format(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"delta"</a:t>
            </a:r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).saveAsTable(
</a:t>
            </a:r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"gold.vendas_resumo")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2926080" cy="1097280"/>
          </a:xfrm>
          <a:prstGeom prst="rect">
            <a:avLst/>
          </a:prstGeom>
          <a:solidFill>
            <a:srgbClr val="1E3252"/>
          </a:solidFill>
          <a:ln w="12700">
            <a:solidFill>
              <a:srgbClr val="1A2D4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1188720"/>
            <a:ext cx="502920" cy="502920"/>
          </a:xfrm>
          <a:prstGeom prst="ellipse">
            <a:avLst/>
          </a:prstGeom>
          <a:solidFill>
            <a:srgbClr val="CD7F32">
              <a:alpha val="80000"/>
            </a:srgbClr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Bronze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14813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</a:rPr>
              <a:t>Dados brutos carregados sem transformação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2926080" cy="1097280"/>
          </a:xfrm>
          <a:prstGeom prst="rect">
            <a:avLst/>
          </a:prstGeom>
          <a:solidFill>
            <a:srgbClr val="1E3252"/>
          </a:solidFill>
          <a:ln w="12700">
            <a:solidFill>
              <a:srgbClr val="1A2D4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2423160"/>
            <a:ext cx="502920" cy="502920"/>
          </a:xfrm>
          <a:prstGeom prst="ellipse">
            <a:avLst/>
          </a:prstGeom>
          <a:solidFill>
            <a:srgbClr val="8BA3B8">
              <a:alpha val="80000"/>
            </a:srgbClr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Silver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2715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</a:rPr>
              <a:t>Dados limpos e padronizados para uso analítico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52160" y="3474720"/>
            <a:ext cx="2926080" cy="1097280"/>
          </a:xfrm>
          <a:prstGeom prst="rect">
            <a:avLst/>
          </a:prstGeom>
          <a:solidFill>
            <a:srgbClr val="1E3252"/>
          </a:solidFill>
          <a:ln w="12700">
            <a:solidFill>
              <a:srgbClr val="1A2D4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3657600"/>
            <a:ext cx="502920" cy="502920"/>
          </a:xfrm>
          <a:prstGeom prst="ellipse">
            <a:avLst/>
          </a:prstGeom>
          <a:solidFill>
            <a:srgbClr val="FFD700">
              <a:alpha val="8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Gold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950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3B8"/>
                </a:solidFill>
              </a:rPr>
              <a:t>Dados agregados prontos para dashboards e ML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9A51"/>
          </a:solidFill>
          <a:ln w="12700">
            <a:solidFill>
              <a:srgbClr val="4E9A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9A51"/>
                </a:solidFill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Pentaho Data Integration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882"/>
                </a:solidFill>
              </a:rPr>
              <a:t>ETL Open-Source &amp; Visual — Spoon / Kettle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560320"/>
          </a:xfrm>
          <a:prstGeom prst="rect">
            <a:avLst/>
          </a:prstGeom>
          <a:solidFill>
            <a:srgbClr val="1E3252"/>
          </a:solidFill>
          <a:ln w="12700">
            <a:solidFill>
              <a:srgbClr val="1E3252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4E9A51"/>
          </a:solidFill>
          <a:ln w="12700">
            <a:solidFill>
              <a:srgbClr val="4E9A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Por que usar o Pentaho?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9A5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Interface visual drag-and-drop (sem código)
</a:t>
            </a:r>
            <a:pPr indent="0" marL="0">
              <a:buNone/>
            </a:pPr>
            <a:r>
              <a:rPr lang="en-US" sz="1100" b="1" dirty="0">
                <a:solidFill>
                  <a:srgbClr val="4E9A5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Conectores nativos: MySQL, Oracle, Excel, CSV, API REST
</a:t>
            </a:r>
            <a:pPr indent="0" marL="0">
              <a:buNone/>
            </a:pPr>
            <a:r>
              <a:rPr lang="en-US" sz="1100" b="1" dirty="0">
                <a:solidFill>
                  <a:srgbClr val="4E9A5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Comunidade ativa e gratuito (versão community)
</a:t>
            </a:r>
            <a:pPr indent="0" marL="0">
              <a:buNone/>
            </a:pPr>
            <a:r>
              <a:rPr lang="en-US" sz="1100" b="1" dirty="0">
                <a:solidFill>
                  <a:srgbClr val="4E9A5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Jobs e Transformações como blocos reutilizáveis
</a:t>
            </a:r>
            <a:pPr indent="0" marL="0">
              <a:buNone/>
            </a:pPr>
            <a:r>
              <a:rPr lang="en-US" sz="1100" b="1" dirty="0">
                <a:solidFill>
                  <a:srgbClr val="4E9A51"/>
                </a:solidFill>
              </a:rPr>
              <a:t>✔  </a:t>
            </a:r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Logs, versionamento e agendamento integrados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2011680" cy="1188720"/>
          </a:xfrm>
          <a:prstGeom prst="rect">
            <a:avLst/>
          </a:prstGeom>
          <a:solidFill>
            <a:srgbClr val="1E3252"/>
          </a:solidFill>
          <a:ln w="12700">
            <a:solidFill>
              <a:srgbClr val="4E9A5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71600"/>
            <a:ext cx="2011680" cy="54864"/>
          </a:xfrm>
          <a:prstGeom prst="rect">
            <a:avLst/>
          </a:prstGeom>
          <a:solidFill>
            <a:srgbClr val="4E9A51"/>
          </a:solidFill>
          <a:ln w="12700">
            <a:solidFill>
              <a:srgbClr val="4E9A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Spoon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IDE visual para criar transformações e jobs ETL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371600"/>
            <a:ext cx="2011680" cy="1188720"/>
          </a:xfrm>
          <a:prstGeom prst="rect">
            <a:avLst/>
          </a:prstGeom>
          <a:solidFill>
            <a:srgbClr val="1E3252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03720" y="1371600"/>
            <a:ext cx="201168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Kitchen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95160" y="18470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Execução de Jobs via linha de comando (CLI)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2011680" cy="1188720"/>
          </a:xfrm>
          <a:prstGeom prst="rect">
            <a:avLst/>
          </a:prstGeom>
          <a:solidFill>
            <a:srgbClr val="1E3252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743200"/>
            <a:ext cx="201168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2186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Execução de Transformações via CLI / scripts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2743200"/>
            <a:ext cx="2011680" cy="1188720"/>
          </a:xfrm>
          <a:prstGeom prst="rect">
            <a:avLst/>
          </a:prstGeom>
          <a:solidFill>
            <a:srgbClr val="1E3252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2743200"/>
            <a:ext cx="20116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Carte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2186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Servidor web para orquestrar pipelines remotamente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📌  Pentaho PDI é um dos softwares ETL open-source mais utilizados no mercado brasileiro, especialmente em projetos de BI corporativo com Data Warehouses relacionais.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E9A51"/>
          </a:solidFill>
          <a:ln w="12700">
            <a:solidFill>
              <a:srgbClr val="4E9A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Pentaho — Transformação ETL Passo a Passo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C882"/>
                </a:solidFill>
              </a:rPr>
              <a:t>Caso: Carga de dados de vendas CSV → MySQL DW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72768" cy="2286000"/>
          </a:xfrm>
          <a:prstGeom prst="rect">
            <a:avLst/>
          </a:prstGeom>
          <a:solidFill>
            <a:srgbClr val="1E3252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572768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CSV 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1031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Lê arquivo CSV de vendas com mapeamento de colunas e tipos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47088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B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572768" cy="2286000"/>
          </a:xfrm>
          <a:prstGeom prst="rect">
            <a:avLst/>
          </a:prstGeom>
          <a:solidFill>
            <a:srgbClr val="1E3252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097280"/>
            <a:ext cx="1572768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39112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Filter Rows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39112" y="21031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Remove registros com valor nulo ou datas inválidas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B8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12464" y="1097280"/>
            <a:ext cx="1572768" cy="2286000"/>
          </a:xfrm>
          <a:prstGeom prst="rect">
            <a:avLst/>
          </a:prstGeom>
          <a:solidFill>
            <a:srgbClr val="1E3252"/>
          </a:solidFill>
          <a:ln w="12700">
            <a:solidFill>
              <a:srgbClr val="4E9A5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1097280"/>
            <a:ext cx="1572768" cy="54864"/>
          </a:xfrm>
          <a:prstGeom prst="rect">
            <a:avLst/>
          </a:prstGeom>
          <a:solidFill>
            <a:srgbClr val="4E9A51"/>
          </a:solidFill>
          <a:ln w="12700">
            <a:solidFill>
              <a:srgbClr val="4E9A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58184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Lookup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58184" y="21031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Enriquece com dados de produto via join no banco de referência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85232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B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31536" y="1097280"/>
            <a:ext cx="1572768" cy="2286000"/>
          </a:xfrm>
          <a:prstGeom prst="rect">
            <a:avLst/>
          </a:prstGeom>
          <a:solidFill>
            <a:srgbClr val="1E3252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31536" y="1097280"/>
            <a:ext cx="1572768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77256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77256" y="21031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Converte moeda, normaliza strings e calcula campos derivados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04304" y="19202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3B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50608" y="1097280"/>
            <a:ext cx="1572768" cy="2286000"/>
          </a:xfrm>
          <a:prstGeom prst="rect">
            <a:avLst/>
          </a:prstGeom>
          <a:solidFill>
            <a:srgbClr val="1E3252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50608" y="1097280"/>
            <a:ext cx="1572768" cy="54864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1887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96328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Table Output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96328" y="21031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8"/>
                </a:solidFill>
              </a:rPr>
              <a:t>Insere/atualiza registros na tabela fato do DW MySQL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8595360" cy="54864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</a:rPr>
              <a:t>No Spoon (IDE do Pentaho): cada etapa acima é um Step arrastado para o canvas e conectado por hops (setas). A execução roda sequencialmente ou em paralelo.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160520"/>
            <a:ext cx="8595360" cy="594360"/>
          </a:xfrm>
          <a:prstGeom prst="rect">
            <a:avLst/>
          </a:prstGeom>
          <a:solidFill>
            <a:srgbClr val="152238"/>
          </a:solidFill>
          <a:ln w="12700">
            <a:solidFill>
              <a:srgbClr val="4E9A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⚙  Conexão com banco: Menu → View → Connections → New → MySQL | Driver: mysql-connector-j.jar no diretório lib/ do Pentaho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E8"/>
                </a:solidFill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Casos de Uso Reais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1554480"/>
          </a:xfrm>
          <a:prstGeom prst="rect">
            <a:avLst/>
          </a:prstGeom>
          <a:solidFill>
            <a:srgbClr val="1E3252"/>
          </a:solidFill>
          <a:ln w="1270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5544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🛒 E-commerce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161288"/>
            <a:ext cx="1508760" cy="274320"/>
          </a:xfrm>
          <a:prstGeom prst="rect">
            <a:avLst/>
          </a:prstGeom>
          <a:solidFill>
            <a:srgbClr val="00A8E8">
              <a:alpha val="30000"/>
            </a:srgbClr>
          </a:solidFill>
          <a:ln w="635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161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Databricks (ELT)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</a:rPr>
              <a:t>Pipeline de streaming que ingere eventos de clique, compra e abandono de carrinho em tempo real. Transforma e agrega no Delta Lake para alimentar modelos de recomendação de produto.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1554480"/>
          </a:xfrm>
          <a:prstGeom prst="rect">
            <a:avLst/>
          </a:prstGeom>
          <a:solidFill>
            <a:srgbClr val="1E3252"/>
          </a:solidFill>
          <a:ln w="12700">
            <a:solidFill>
              <a:srgbClr val="4E9A51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743200"/>
            <a:ext cx="54864" cy="1554480"/>
          </a:xfrm>
          <a:prstGeom prst="rect">
            <a:avLst/>
          </a:prstGeom>
          <a:solidFill>
            <a:srgbClr val="4E9A51"/>
          </a:solidFill>
          <a:ln w="12700">
            <a:solidFill>
              <a:srgbClr val="4E9A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Saúde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2852928"/>
            <a:ext cx="1508760" cy="274320"/>
          </a:xfrm>
          <a:prstGeom prst="rect">
            <a:avLst/>
          </a:prstGeom>
          <a:solidFill>
            <a:srgbClr val="4E9A51">
              <a:alpha val="30000"/>
            </a:srgbClr>
          </a:solidFill>
          <a:ln w="6350">
            <a:solidFill>
              <a:srgbClr val="4E9A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8529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Pentaho (ETL)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</a:rPr>
              <a:t>Integração de prontuários de diferentes sistemas hospitalares (TOTVS, MV) para um Data Warehouse único. Transformação e padronização antes da carga, garantindo qualidade dos dados clínicos.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1554480"/>
          </a:xfrm>
          <a:prstGeom prst="rect">
            <a:avLst/>
          </a:prstGeom>
          <a:solidFill>
            <a:srgbClr val="1E3252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051560"/>
            <a:ext cx="54864" cy="1554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🏦 Finanças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0" y="1161288"/>
            <a:ext cx="1508760" cy="274320"/>
          </a:xfrm>
          <a:prstGeom prst="rect">
            <a:avLst/>
          </a:prstGeom>
          <a:solidFill>
            <a:srgbClr val="FF6B35">
              <a:alpha val="3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1612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Databricks (ELT)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00600" y="1554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</a:rPr>
              <a:t>Ingestão de transações bancárias de múltiplas fontes (core bancário, cartões, PIX). Dados carregados brutos e transformados no DW para detecção de fraudes com ML.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743200"/>
            <a:ext cx="4114800" cy="1554480"/>
          </a:xfrm>
          <a:prstGeom prst="rect">
            <a:avLst/>
          </a:prstGeom>
          <a:solidFill>
            <a:srgbClr val="1E3252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743200"/>
            <a:ext cx="54864" cy="1554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834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🏭 Indústria 4.0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2852928"/>
            <a:ext cx="1508760" cy="274320"/>
          </a:xfrm>
          <a:prstGeom prst="rect">
            <a:avLst/>
          </a:prstGeom>
          <a:solidFill>
            <a:srgbClr val="00C896">
              <a:alpha val="30000"/>
            </a:srgbClr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28529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Pentaho + Databricks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32461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FF6"/>
                </a:solidFill>
              </a:rPr>
              <a:t>ETL com Pentaho para consolidar dados de sensores IoT em staging. ELT com Databricks para análise preditiva de falhas em equipamentos usando séries temporais e MLlib.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Resumo — Quando Usar Cada Abordagem?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200400"/>
          </a:xfrm>
          <a:prstGeom prst="rect">
            <a:avLst/>
          </a:prstGeom>
          <a:solidFill>
            <a:srgbClr val="1E3252"/>
          </a:solidFill>
          <a:ln w="19050">
            <a:solidFill>
              <a:srgbClr val="00A8E8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ETL quando...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</a:rPr>
              <a:t>✔  Dados precisam ser altamente limpos ANTES da carga
</a:t>
            </a:r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✔  Ambiente on-premise sem cloud escalável
</a:t>
            </a:r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</a:rPr>
              <a:t>✔  DW relacional legado (SQL Server, Oracle)
</a:t>
            </a:r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✔  Volume de dados moderado (GBs, não TBs)
</a:t>
            </a:r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</a:rPr>
              <a:t>✔  Equipe familiar com ferramentas visuais (Pentaho)
</a:t>
            </a:r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✔  Privacidade: dados sensíveis não podem ir brutos ao destino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114800" cy="3200400"/>
          </a:xfrm>
          <a:prstGeom prst="rect">
            <a:avLst/>
          </a:prstGeom>
          <a:solidFill>
            <a:srgbClr val="1E3252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 ELT quando...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3258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</a:rPr>
              <a:t>✔  Trabalha com Big Data (TBs, PBs de dados)
</a:t>
            </a:r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✔  Infraestrutura cloud (AWS, Azure, GCP)
</a:t>
            </a:r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</a:rPr>
              <a:t>✔  Dados em streaming ou near-real-time
</a:t>
            </a:r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✔  Múltiplos times consomem dados de formas diferentes
</a:t>
            </a:r>
            <a:pPr indent="0" marL="0">
              <a:buNone/>
            </a:pPr>
            <a:r>
              <a:rPr lang="en-US" sz="1050" dirty="0">
                <a:solidFill>
                  <a:srgbClr val="E8EFF6"/>
                </a:solidFill>
              </a:rPr>
              <a:t>✔  Plataformas como Databricks, BigQuery, Snowflake
</a:t>
            </a:r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✔  Exploração e descoberta de dados não estruturados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114800"/>
            <a:ext cx="8412480" cy="640080"/>
          </a:xfrm>
          <a:prstGeom prst="rect">
            <a:avLst/>
          </a:prstGeom>
          <a:solidFill>
            <a:srgbClr val="1A2D4A"/>
          </a:solidFill>
          <a:ln w="12700">
            <a:solidFill>
              <a:srgbClr val="1A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4114800"/>
            <a:ext cx="54864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6"/>
                </a:solidFill>
              </a:rPr>
              <a:t>Na prática, muitas arquiteturas modernas combinam ETL + ELT, usando ferramentas como Pentaho para ingestão inicial e Databricks para transformações avançadas e ML.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57200"/>
            <a:ext cx="2743200" cy="2743200"/>
          </a:xfrm>
          <a:prstGeom prst="ellipse">
            <a:avLst/>
          </a:prstGeom>
          <a:solidFill>
            <a:srgbClr val="00A8E8">
              <a:alpha val="8000"/>
            </a:srgbClr>
          </a:solidFill>
          <a:ln w="19050">
            <a:solidFill>
              <a:srgbClr val="00A8E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0C896">
              <a:alpha val="8000"/>
            </a:srgbClr>
          </a:solidFill>
          <a:ln w="19050">
            <a:solidFill>
              <a:srgbClr val="00C896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A3B8"/>
                </a:solidFill>
              </a:rPr>
              <a:t>Recapitulando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749040" cy="1280160"/>
          </a:xfrm>
          <a:prstGeom prst="rect">
            <a:avLst/>
          </a:prstGeom>
          <a:solidFill>
            <a:srgbClr val="1E3252"/>
          </a:solidFill>
          <a:ln w="12700">
            <a:solidFill>
              <a:srgbClr val="1A2D4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Transforma antes de carregar — Pentaho é referência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3749040" cy="1280160"/>
          </a:xfrm>
          <a:prstGeom prst="rect">
            <a:avLst/>
          </a:prstGeom>
          <a:solidFill>
            <a:srgbClr val="1E3252"/>
          </a:solidFill>
          <a:ln w="12700">
            <a:solidFill>
              <a:srgbClr val="1A2D4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788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154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Carrega bruto, transforma no destino — Databricks lidera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3749040" cy="1280160"/>
          </a:xfrm>
          <a:prstGeom prst="rect">
            <a:avLst/>
          </a:prstGeom>
          <a:solidFill>
            <a:srgbClr val="1E3252"/>
          </a:solidFill>
          <a:ln w="12700">
            <a:solidFill>
              <a:srgbClr val="1A2D4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2356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Arquitetura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16459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Bronze → Silver → Gold no Delta Lake (Databricks)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2606040"/>
            <a:ext cx="3749040" cy="1280160"/>
          </a:xfrm>
          <a:prstGeom prst="rect">
            <a:avLst/>
          </a:prstGeom>
          <a:solidFill>
            <a:srgbClr val="1E3252"/>
          </a:solidFill>
          <a:ln w="12700">
            <a:solidFill>
              <a:srgbClr val="1A2D4A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56048" y="2880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23560" y="27889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Escolha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315468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8"/>
                </a:solidFill>
              </a:rPr>
              <a:t>Depende do volume, ambiente e requisitos do projeto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E8"/>
                </a:solidFill>
              </a:rPr>
              <a:t>Dúvidas? Vamos para a prática! 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3B8"/>
                </a:solidFill>
              </a:rPr>
              <a:t>Prof. Dan Lopes  ·  CEUB  ·  Ciência de Dados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e ELT - Fundamentos e Ferramentas</dc:title>
  <dc:subject>PptxGenJS Presentation</dc:subject>
  <dc:creator>Prof. Dan Lopes - CEUB</dc:creator>
  <cp:lastModifiedBy>Prof. Dan Lopes - CEUB</cp:lastModifiedBy>
  <cp:revision>1</cp:revision>
  <dcterms:created xsi:type="dcterms:W3CDTF">2026-03-12T23:32:20Z</dcterms:created>
  <dcterms:modified xsi:type="dcterms:W3CDTF">2026-03-12T23:32:20Z</dcterms:modified>
</cp:coreProperties>
</file>