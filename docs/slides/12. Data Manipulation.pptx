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3D6FE8"/>
          </a:solidFill>
          <a:ln w="12700">
            <a:solidFill>
              <a:srgbClr val="3D6F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292608" cy="5061204"/>
          </a:xfrm>
          <a:prstGeom prst="rect">
            <a:avLst/>
          </a:prstGeom>
          <a:solidFill>
            <a:srgbClr val="2A3B82"/>
          </a:solidFill>
          <a:ln w="12700">
            <a:solidFill>
              <a:srgbClr val="2A3B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347472"/>
            <a:ext cx="3474720" cy="292608"/>
          </a:xfrm>
          <a:prstGeom prst="rect">
            <a:avLst/>
          </a:prstGeom>
          <a:solidFill>
            <a:srgbClr val="3D6FE8">
              <a:alpha val="15000"/>
            </a:srgbClr>
          </a:solidFill>
          <a:ln w="12700">
            <a:solidFill>
              <a:srgbClr val="3D6FE8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4747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8B4CC"/>
                </a:solidFill>
              </a:rPr>
              <a:t>CENTRO UNIVERSITÁRIO DE BRASÍLIA  ·  CEUB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8229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Manipulação de Dados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94360" y="1627632"/>
            <a:ext cx="8046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A8B4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Ciência de Dados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594360" y="2487168"/>
            <a:ext cx="7315200" cy="16459"/>
          </a:xfrm>
          <a:prstGeom prst="rect">
            <a:avLst/>
          </a:prstGeom>
          <a:solidFill>
            <a:srgbClr val="0EA5B0"/>
          </a:solidFill>
          <a:ln w="12700">
            <a:solidFill>
              <a:srgbClr val="0EA5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56032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A5B0"/>
                </a:solidFill>
              </a:rPr>
              <a:t>Conceitos Fundamentais · Limpeza · Transformação · Integração · Validação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3154680"/>
            <a:ext cx="2331720" cy="1188720"/>
          </a:xfrm>
          <a:prstGeom prst="rect">
            <a:avLst/>
          </a:prstGeom>
          <a:solidFill>
            <a:srgbClr val="2A3B82"/>
          </a:solidFill>
          <a:ln w="12700">
            <a:solidFill>
              <a:srgbClr val="3D6FE8">
                <a:alpha val="40000"/>
              </a:srgbClr>
            </a:solidFill>
            <a:prstDash val="solid"/>
          </a:ln>
          <a:effectLst>
            <a:outerShdw sx="100000" sy="100000" kx="0" ky="0" algn="bl" rotWithShape="0" blurRad="76200" dist="25400" dir="16200000">
              <a:srgbClr val="1E2761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321868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85800" y="37490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B4CC"/>
                </a:solidFill>
              </a:rPr>
              <a:t>Etapas do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8B4CC"/>
                </a:solidFill>
              </a:rPr>
              <a:t>Pipeline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54680" y="3154680"/>
            <a:ext cx="2331720" cy="1188720"/>
          </a:xfrm>
          <a:prstGeom prst="rect">
            <a:avLst/>
          </a:prstGeom>
          <a:solidFill>
            <a:srgbClr val="2A3B82"/>
          </a:solidFill>
          <a:ln w="12700">
            <a:solidFill>
              <a:srgbClr val="3D6FE8">
                <a:alpha val="40000"/>
              </a:srgbClr>
            </a:solidFill>
            <a:prstDash val="solid"/>
          </a:ln>
          <a:effectLst>
            <a:outerShdw sx="100000" sy="100000" kx="0" ky="0" algn="bl" rotWithShape="0" blurRad="76200" dist="25400" dir="16200000">
              <a:srgbClr val="1E2761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46120" y="321868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246120" y="37490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B4CC"/>
                </a:solidFill>
              </a:rPr>
              <a:t>Tempo em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8B4CC"/>
                </a:solidFill>
              </a:rPr>
              <a:t>Preparação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715000" y="3154680"/>
            <a:ext cx="2331720" cy="1188720"/>
          </a:xfrm>
          <a:prstGeom prst="rect">
            <a:avLst/>
          </a:prstGeom>
          <a:solidFill>
            <a:srgbClr val="2A3B82"/>
          </a:solidFill>
          <a:ln w="12700">
            <a:solidFill>
              <a:srgbClr val="3D6FE8">
                <a:alpha val="40000"/>
              </a:srgbClr>
            </a:solidFill>
            <a:prstDash val="solid"/>
          </a:ln>
          <a:effectLst>
            <a:outerShdw sx="100000" sy="100000" kx="0" ky="0" algn="bl" rotWithShape="0" blurRad="76200" dist="25400" dir="16200000">
              <a:srgbClr val="1E2761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806440" y="321868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CRISP-DM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806440" y="37490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B4CC"/>
                </a:solidFill>
              </a:rPr>
              <a:t>Framework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8B4CC"/>
                </a:solidFill>
              </a:rPr>
              <a:t>de Referência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51D52"/>
          </a:solidFill>
          <a:ln w="12700">
            <a:solidFill>
              <a:srgbClr val="151D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4CC"/>
                </a:solidFill>
              </a:rPr>
              <a:t>Prof. Dan Lopes  ·  Ciência de Dados  ·  TCC  · 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Conteúdo da Aula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8321040" cy="16459"/>
          </a:xfrm>
          <a:prstGeom prst="rect">
            <a:avLst/>
          </a:prstGeom>
          <a:solidFill>
            <a:srgbClr val="C8D0E7"/>
          </a:solidFill>
          <a:ln w="12700">
            <a:solidFill>
              <a:srgbClr val="C8D0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960120"/>
            <a:ext cx="4169664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7"/>
            </a:solidFill>
            <a:prstDash val="solid"/>
          </a:ln>
          <a:effectLst>
            <a:outerShdw sx="100000" sy="100000" kx="0" ky="0" algn="bl" rotWithShape="0" blurRad="76200" dist="25400" dir="162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960120"/>
            <a:ext cx="50292" cy="1115568"/>
          </a:xfrm>
          <a:prstGeom prst="rect">
            <a:avLst/>
          </a:prstGeom>
          <a:solidFill>
            <a:srgbClr val="3D6FE8"/>
          </a:solidFill>
          <a:ln w="12700">
            <a:solidFill>
              <a:srgbClr val="3D6F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05156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6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21208" y="143560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F4B"/>
                </a:solidFill>
              </a:rPr>
              <a:t>O Pipeline de Dados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21208" y="170992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</a:rPr>
              <a:t>Visão geral do fluxo de trabalho em Ciência de Dados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4048" y="2221992"/>
            <a:ext cx="4169664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7"/>
            </a:solidFill>
            <a:prstDash val="solid"/>
          </a:ln>
          <a:effectLst>
            <a:outerShdw sx="100000" sy="100000" kx="0" ky="0" algn="bl" rotWithShape="0" blurRad="76200" dist="25400" dir="16200000">
              <a:srgbClr val="1E2761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" y="2221992"/>
            <a:ext cx="50292" cy="1115568"/>
          </a:xfrm>
          <a:prstGeom prst="rect">
            <a:avLst/>
          </a:prstGeom>
          <a:solidFill>
            <a:srgbClr val="0EA5B0"/>
          </a:solidFill>
          <a:ln w="12700">
            <a:solidFill>
              <a:srgbClr val="0EA5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" y="2313432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A5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21208" y="26974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F4B"/>
                </a:solidFill>
              </a:rPr>
              <a:t>Coleta e Ingestão de Dados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21208" y="29718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</a:rPr>
              <a:t>Fontes, formatos e APIs; leitura com Pandas e Spark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4048" y="3483864"/>
            <a:ext cx="4169664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7"/>
            </a:solidFill>
            <a:prstDash val="solid"/>
          </a:ln>
          <a:effectLst>
            <a:outerShdw sx="100000" sy="100000" kx="0" ky="0" algn="bl" rotWithShape="0" blurRad="76200" dist="25400" dir="16200000">
              <a:srgbClr val="1E2761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4048" y="3483864"/>
            <a:ext cx="50292" cy="1115568"/>
          </a:xfrm>
          <a:prstGeom prst="rect">
            <a:avLst/>
          </a:prstGeom>
          <a:solidFill>
            <a:srgbClr val="3D6FE8"/>
          </a:solidFill>
          <a:ln w="12700">
            <a:solidFill>
              <a:srgbClr val="3D6F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" y="3575304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6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21208" y="395935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F4B"/>
                </a:solidFill>
              </a:rPr>
              <a:t>Limpeza de Dados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21208" y="423367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</a:rPr>
              <a:t>Valores ausentes, outliers, duplicatas e tipagem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91456" y="960120"/>
            <a:ext cx="4169664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7"/>
            </a:solidFill>
            <a:prstDash val="solid"/>
          </a:ln>
          <a:effectLst>
            <a:outerShdw sx="100000" sy="100000" kx="0" ky="0" algn="bl" rotWithShape="0" blurRad="76200" dist="25400" dir="16200000">
              <a:srgbClr val="1E2761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91456" y="960120"/>
            <a:ext cx="50292" cy="1115568"/>
          </a:xfrm>
          <a:prstGeom prst="rect">
            <a:avLst/>
          </a:prstGeom>
          <a:solidFill>
            <a:srgbClr val="0EA5B0"/>
          </a:solidFill>
          <a:ln w="12700">
            <a:solidFill>
              <a:srgbClr val="0EA5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28616" y="105156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A5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928616" y="143560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F4B"/>
                </a:solidFill>
              </a:rPr>
              <a:t>Transformação de Dados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928616" y="170992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</a:rPr>
              <a:t>Normalização, encoding, feature engineering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91456" y="2221992"/>
            <a:ext cx="4169664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7"/>
            </a:solidFill>
            <a:prstDash val="solid"/>
          </a:ln>
          <a:effectLst>
            <a:outerShdw sx="100000" sy="100000" kx="0" ky="0" algn="bl" rotWithShape="0" blurRad="76200" dist="25400" dir="16200000">
              <a:srgbClr val="1E2761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91456" y="2221992"/>
            <a:ext cx="50292" cy="1115568"/>
          </a:xfrm>
          <a:prstGeom prst="rect">
            <a:avLst/>
          </a:prstGeom>
          <a:solidFill>
            <a:srgbClr val="3D6FE8"/>
          </a:solidFill>
          <a:ln w="12700">
            <a:solidFill>
              <a:srgbClr val="3D6F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28616" y="2313432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6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928616" y="26974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F4B"/>
                </a:solidFill>
              </a:rPr>
              <a:t>Integração e Fusão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928616" y="29718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</a:rPr>
              <a:t>Merges, joins, concatenação e resolução de conflitos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91456" y="3483864"/>
            <a:ext cx="4169664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7"/>
            </a:solidFill>
            <a:prstDash val="solid"/>
          </a:ln>
          <a:effectLst>
            <a:outerShdw sx="100000" sy="100000" kx="0" ky="0" algn="bl" rotWithShape="0" blurRad="76200" dist="25400" dir="16200000">
              <a:srgbClr val="1E2761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91456" y="3483864"/>
            <a:ext cx="50292" cy="1115568"/>
          </a:xfrm>
          <a:prstGeom prst="rect">
            <a:avLst/>
          </a:prstGeom>
          <a:solidFill>
            <a:srgbClr val="0EA5B0"/>
          </a:solidFill>
          <a:ln w="12700">
            <a:solidFill>
              <a:srgbClr val="0EA5B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28616" y="3575304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A5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4928616" y="395935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F4B"/>
                </a:solidFill>
              </a:rPr>
              <a:t>Validação e Qualidade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928616" y="423367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</a:rPr>
              <a:t>Schemas, testes, monitoramento e data contracts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48646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4CC"/>
                </a:solidFill>
              </a:rPr>
              <a:t>Prof. Dan Lopes  ·  CEUB  ·  Ciência de Dados  ·  Manipulação de Dados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64592"/>
            <a:ext cx="960120" cy="256032"/>
          </a:xfrm>
          <a:prstGeom prst="rect">
            <a:avLst/>
          </a:prstGeom>
          <a:solidFill>
            <a:srgbClr val="3D6FE8"/>
          </a:solidFill>
          <a:ln w="12700">
            <a:solidFill>
              <a:srgbClr val="3D6F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Pipeline de Dados em Ciência de Dados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0241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99"/>
                </a:solidFill>
              </a:rPr>
              <a:t>Sequência estruturada de etapas que transforma dados brutos em conhecimento acionável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325880"/>
            <a:ext cx="8321040" cy="16459"/>
          </a:xfrm>
          <a:prstGeom prst="rect">
            <a:avLst/>
          </a:prstGeom>
          <a:solidFill>
            <a:srgbClr val="C8D0E7"/>
          </a:solidFill>
          <a:ln w="12700">
            <a:solidFill>
              <a:srgbClr val="C8D0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463040"/>
            <a:ext cx="1261872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7"/>
            </a:solidFill>
            <a:prstDash val="solid"/>
          </a:ln>
          <a:effectLst>
            <a:outerShdw sx="100000" sy="100000" kx="0" ky="0" algn="bl" rotWithShape="0" blurRad="76200" dist="25400" dir="16200000">
              <a:srgbClr val="1E2761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" y="1463040"/>
            <a:ext cx="1261872" cy="54864"/>
          </a:xfrm>
          <a:prstGeom prst="rect">
            <a:avLst/>
          </a:prstGeom>
          <a:solidFill>
            <a:srgbClr val="3D6FE8"/>
          </a:solidFill>
          <a:ln w="12700">
            <a:solidFill>
              <a:srgbClr val="3D6F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55448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📥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47472" y="208483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6FE8"/>
                </a:solidFill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" y="235000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F4B"/>
                </a:solidFill>
              </a:rPr>
              <a:t>Coleta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84048" y="2688336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9"/>
                </a:solidFill>
              </a:rPr>
              <a:t>APIs, BD,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A99"/>
                </a:solidFill>
              </a:rPr>
              <a:t>Arquivos, Streams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09344" y="2514600"/>
            <a:ext cx="155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99"/>
                </a:solidFill>
              </a:rPr>
              <a:t>→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64792" y="1463040"/>
            <a:ext cx="1261872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7"/>
            </a:solidFill>
            <a:prstDash val="solid"/>
          </a:ln>
          <a:effectLst>
            <a:outerShdw sx="100000" sy="100000" kx="0" ky="0" algn="bl" rotWithShape="0" blurRad="76200" dist="25400" dir="16200000">
              <a:srgbClr val="1E2761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764792" y="1463040"/>
            <a:ext cx="1261872" cy="54864"/>
          </a:xfrm>
          <a:prstGeom prst="rect">
            <a:avLst/>
          </a:prstGeom>
          <a:solidFill>
            <a:srgbClr val="0EA5B0"/>
          </a:solidFill>
          <a:ln w="12700">
            <a:solidFill>
              <a:srgbClr val="0EA5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64792" y="155448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764792" y="208483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B0"/>
                </a:solidFill>
              </a:rPr>
              <a:t>02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01368" y="235000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F4B"/>
                </a:solidFill>
              </a:rPr>
              <a:t>Exploração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801368" y="2688336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9"/>
                </a:solidFill>
              </a:rPr>
              <a:t>EDA, estatísticas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A99"/>
                </a:solidFill>
              </a:rPr>
              <a:t>descritivas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026664" y="2514600"/>
            <a:ext cx="155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99"/>
                </a:solidFill>
              </a:rPr>
              <a:t>→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182112" y="1463040"/>
            <a:ext cx="1261872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7"/>
            </a:solidFill>
            <a:prstDash val="solid"/>
          </a:ln>
          <a:effectLst>
            <a:outerShdw sx="100000" sy="100000" kx="0" ky="0" algn="bl" rotWithShape="0" blurRad="76200" dist="25400" dir="16200000">
              <a:srgbClr val="1E2761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82112" y="1463040"/>
            <a:ext cx="1261872" cy="54864"/>
          </a:xfrm>
          <a:prstGeom prst="rect">
            <a:avLst/>
          </a:prstGeom>
          <a:solidFill>
            <a:srgbClr val="3D6FE8"/>
          </a:solidFill>
          <a:ln w="12700">
            <a:solidFill>
              <a:srgbClr val="3D6F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82112" y="155448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🧹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182112" y="208483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6FE8"/>
                </a:solidFill>
              </a:rPr>
              <a:t>03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18688" y="235000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F4B"/>
                </a:solidFill>
              </a:rPr>
              <a:t>Limpeza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218688" y="2688336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9"/>
                </a:solidFill>
              </a:rPr>
              <a:t>Valores ausentes,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A99"/>
                </a:solidFill>
              </a:rPr>
              <a:t>duplicatas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443984" y="2514600"/>
            <a:ext cx="155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99"/>
                </a:solidFill>
              </a:rPr>
              <a:t>→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99432" y="1463040"/>
            <a:ext cx="1261872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7"/>
            </a:solidFill>
            <a:prstDash val="solid"/>
          </a:ln>
          <a:effectLst>
            <a:outerShdw sx="100000" sy="100000" kx="0" ky="0" algn="bl" rotWithShape="0" blurRad="76200" dist="25400" dir="16200000">
              <a:srgbClr val="1E2761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99432" y="1463040"/>
            <a:ext cx="1261872" cy="54864"/>
          </a:xfrm>
          <a:prstGeom prst="rect">
            <a:avLst/>
          </a:prstGeom>
          <a:solidFill>
            <a:srgbClr val="0EA5B0"/>
          </a:solidFill>
          <a:ln w="12700">
            <a:solidFill>
              <a:srgbClr val="0EA5B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99432" y="155448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599432" y="208483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B0"/>
                </a:solidFill>
              </a:rPr>
              <a:t>04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636008" y="235000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F4B"/>
                </a:solidFill>
              </a:rPr>
              <a:t>Transformação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636008" y="2688336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9"/>
                </a:solidFill>
              </a:rPr>
              <a:t>Normalização,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A99"/>
                </a:solidFill>
              </a:rPr>
              <a:t>encoding, features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861304" y="2514600"/>
            <a:ext cx="155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99"/>
                </a:solidFill>
              </a:rPr>
              <a:t>→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016752" y="1463040"/>
            <a:ext cx="1261872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7"/>
            </a:solidFill>
            <a:prstDash val="solid"/>
          </a:ln>
          <a:effectLst>
            <a:outerShdw sx="100000" sy="100000" kx="0" ky="0" algn="bl" rotWithShape="0" blurRad="76200" dist="25400" dir="16200000">
              <a:srgbClr val="1E2761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16752" y="1463040"/>
            <a:ext cx="1261872" cy="54864"/>
          </a:xfrm>
          <a:prstGeom prst="rect">
            <a:avLst/>
          </a:prstGeom>
          <a:solidFill>
            <a:srgbClr val="3D6FE8"/>
          </a:solidFill>
          <a:ln w="12700">
            <a:solidFill>
              <a:srgbClr val="3D6F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16752" y="155448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016752" y="208483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6FE8"/>
                </a:solidFill>
              </a:rPr>
              <a:t>05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053328" y="235000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F4B"/>
                </a:solidFill>
              </a:rPr>
              <a:t>Integração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053328" y="2688336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9"/>
                </a:solidFill>
              </a:rPr>
              <a:t>Merge, join,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A99"/>
                </a:solidFill>
              </a:rPr>
              <a:t>consolidação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278624" y="2514600"/>
            <a:ext cx="155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99"/>
                </a:solidFill>
              </a:rPr>
              <a:t>→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434072" y="1463040"/>
            <a:ext cx="1261872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4A017"/>
            </a:solidFill>
            <a:prstDash val="solid"/>
          </a:ln>
          <a:effectLst>
            <a:outerShdw sx="100000" sy="100000" kx="0" ky="0" algn="bl" rotWithShape="0" blurRad="76200" dist="25400" dir="16200000">
              <a:srgbClr val="1E2761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7434072" y="1463040"/>
            <a:ext cx="1261872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34072" y="155448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7434072" y="208483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017"/>
                </a:solidFill>
              </a:rPr>
              <a:t>06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470648" y="235000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F4B"/>
                </a:solidFill>
              </a:rPr>
              <a:t>Validação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7470648" y="2688336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9"/>
                </a:solidFill>
              </a:rPr>
              <a:t>Qualidade,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A99"/>
                </a:solidFill>
              </a:rPr>
              <a:t>testes, schemas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47472" y="4041648"/>
            <a:ext cx="8449056" cy="640080"/>
          </a:xfrm>
          <a:prstGeom prst="rect">
            <a:avLst/>
          </a:prstGeom>
          <a:solidFill>
            <a:srgbClr val="EEF2FA"/>
          </a:solidFill>
          <a:ln w="9525">
            <a:solidFill>
              <a:srgbClr val="C8D0E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47472" y="4041648"/>
            <a:ext cx="50292" cy="6400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" y="4096512"/>
            <a:ext cx="8183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D3561"/>
                </a:solidFill>
              </a:rPr>
              <a:t>Referência metodológica: CRISP-DM (Cross Industry Standard Process for Data Mining) — fases de negócio, dados, preparação, modelagem, avaliação e implantação são iterativas e não lineares.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" y="48646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4CC"/>
                </a:solidFill>
              </a:rPr>
              <a:t>Prof. Dan Lopes  ·  CEUB  ·  Ciência de Dados  ·  Manipulação de Dados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64592"/>
            <a:ext cx="960120" cy="256032"/>
          </a:xfrm>
          <a:prstGeom prst="rect">
            <a:avLst/>
          </a:prstGeom>
          <a:solidFill>
            <a:srgbClr val="3D6FE8"/>
          </a:solidFill>
          <a:ln w="12700">
            <a:solidFill>
              <a:srgbClr val="3D6F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Coleta e Ingestão de Dados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0241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99"/>
                </a:solidFill>
              </a:rPr>
              <a:t>Primeira fase do pipeline: obter dados de fontes heterogêneas de forma reprodutível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325880"/>
            <a:ext cx="8321040" cy="16459"/>
          </a:xfrm>
          <a:prstGeom prst="rect">
            <a:avLst/>
          </a:prstGeom>
          <a:solidFill>
            <a:srgbClr val="C8D0E7"/>
          </a:solidFill>
          <a:ln w="12700">
            <a:solidFill>
              <a:srgbClr val="C8D0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463040"/>
            <a:ext cx="41148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7"/>
            </a:solidFill>
            <a:prstDash val="solid"/>
          </a:ln>
          <a:effectLst>
            <a:outerShdw sx="100000" sy="100000" kx="0" ky="0" algn="bl" rotWithShape="0" blurRad="76200" dist="25400" dir="16200000">
              <a:srgbClr val="1E2761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4048" y="1463040"/>
            <a:ext cx="50292" cy="694944"/>
          </a:xfrm>
          <a:prstGeom prst="rect">
            <a:avLst/>
          </a:prstGeom>
          <a:solidFill>
            <a:srgbClr val="3D6FE8"/>
          </a:solidFill>
          <a:ln w="12700">
            <a:solidFill>
              <a:srgbClr val="3D6F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51790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4B"/>
                </a:solidFill>
              </a:rPr>
              <a:t>Arquivos Estruturados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66928" y="181051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CSV, TSV, Excel (.xlsx), JSON, Parquet, ORC, Avro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4048" y="2267712"/>
            <a:ext cx="41148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7"/>
            </a:solidFill>
            <a:prstDash val="solid"/>
          </a:ln>
          <a:effectLst>
            <a:outerShdw sx="100000" sy="100000" kx="0" ky="0" algn="bl" rotWithShape="0" blurRad="76200" dist="25400" dir="16200000">
              <a:srgbClr val="1E2761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4048" y="2267712"/>
            <a:ext cx="50292" cy="694944"/>
          </a:xfrm>
          <a:prstGeom prst="rect">
            <a:avLst/>
          </a:prstGeom>
          <a:solidFill>
            <a:srgbClr val="0EA5B0"/>
          </a:solidFill>
          <a:ln w="12700">
            <a:solidFill>
              <a:srgbClr val="0EA5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32257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4B"/>
                </a:solidFill>
              </a:rPr>
              <a:t>Bancos de Dados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66928" y="261518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SQL (MySQL, PostgreSQL, Oracle), NoSQL (MongoDB, Cassandra, Redis)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4048" y="3072384"/>
            <a:ext cx="41148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7"/>
            </a:solidFill>
            <a:prstDash val="solid"/>
          </a:ln>
          <a:effectLst>
            <a:outerShdw sx="100000" sy="100000" kx="0" ky="0" algn="bl" rotWithShape="0" blurRad="76200" dist="25400" dir="16200000">
              <a:srgbClr val="1E2761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4048" y="3072384"/>
            <a:ext cx="50292" cy="694944"/>
          </a:xfrm>
          <a:prstGeom prst="rect">
            <a:avLst/>
          </a:prstGeom>
          <a:solidFill>
            <a:srgbClr val="3D6FE8"/>
          </a:solidFill>
          <a:ln w="12700">
            <a:solidFill>
              <a:srgbClr val="3D6F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12724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4B"/>
                </a:solidFill>
              </a:rPr>
              <a:t>APIs e Web Services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6928" y="341985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REST (HTTP/JSON), GraphQL, SOAP; autenticação OAuth, API-Key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84048" y="3877056"/>
            <a:ext cx="41148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7"/>
            </a:solidFill>
            <a:prstDash val="solid"/>
          </a:ln>
          <a:effectLst>
            <a:outerShdw sx="100000" sy="100000" kx="0" ky="0" algn="bl" rotWithShape="0" blurRad="76200" dist="25400" dir="16200000">
              <a:srgbClr val="1E2761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4048" y="3877056"/>
            <a:ext cx="50292" cy="694944"/>
          </a:xfrm>
          <a:prstGeom prst="rect">
            <a:avLst/>
          </a:prstGeom>
          <a:solidFill>
            <a:srgbClr val="0EA5B0"/>
          </a:solidFill>
          <a:ln w="12700">
            <a:solidFill>
              <a:srgbClr val="0EA5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93192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4B"/>
                </a:solidFill>
              </a:rPr>
              <a:t>Streaming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66928" y="422452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Apache Kafka, AWS Kinesis, Google Pub/Sub — dados em tempo real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36592" y="1463040"/>
            <a:ext cx="4059936" cy="1901952"/>
          </a:xfrm>
          <a:prstGeom prst="rect">
            <a:avLst/>
          </a:prstGeom>
          <a:solidFill>
            <a:srgbClr val="0D1117"/>
          </a:solidFill>
          <a:ln w="1016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16200000">
              <a:srgbClr val="1E2761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36592" y="1463040"/>
            <a:ext cx="4059936" cy="292608"/>
          </a:xfrm>
          <a:prstGeom prst="rect">
            <a:avLst/>
          </a:prstGeom>
          <a:solidFill>
            <a:srgbClr val="161B22"/>
          </a:solidFill>
          <a:ln w="1016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1481328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Python · pandas / requests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28032" y="1810512"/>
            <a:ext cx="387705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pandas </a:t>
            </a:r>
            <a:pPr indent="0" marL="0">
              <a:buNone/>
            </a:pPr>
            <a:r>
              <a:rPr lang="en-US" sz="8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pd
</a:t>
            </a:r>
            <a:pPr indent="0" marL="0">
              <a:buNone/>
            </a:pPr>
            <a:r>
              <a:rPr lang="en-US" sz="8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requests
</a:t>
            </a:r>
            <a:pPr indent="0" marL="0">
              <a:buNone/>
            </a:pPr>
            <a:r>
              <a:rPr lang="en-US" sz="8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Leitura de arquivo CSV
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</a:t>
            </a:r>
            <a:pPr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"vendas.csv"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encoding=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"utf-8"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sep=</a:t>
            </a:r>
            <a:pPr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";"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</a:t>
            </a:r>
            <a:pPr indent="0" marL="0">
              <a:buNone/>
            </a:pPr>
            <a:r>
              <a:rPr lang="en-US" sz="8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Leitura de API REST
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 = requests.get(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"https://api.ibge.gov.br/dados"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df2 = pd.json_normalize(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resp.json()[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"resultados"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736592" y="3493008"/>
            <a:ext cx="4059936" cy="210312"/>
          </a:xfrm>
          <a:prstGeom prst="rect">
            <a:avLst/>
          </a:prstGeom>
          <a:solidFill>
            <a:srgbClr val="1E2761"/>
          </a:solidFill>
          <a:ln w="6350">
            <a:solidFill>
              <a:srgbClr val="C8D0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3493008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Formato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153912" y="3493008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Tipo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507224" y="3493008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Leitura Pandas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36592" y="3712464"/>
            <a:ext cx="4059936" cy="210312"/>
          </a:xfrm>
          <a:prstGeom prst="rect">
            <a:avLst/>
          </a:prstGeom>
          <a:solidFill>
            <a:srgbClr val="F4F6FB"/>
          </a:solidFill>
          <a:ln w="6350">
            <a:solidFill>
              <a:srgbClr val="C8D0E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3712464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3561"/>
                </a:solidFill>
              </a:rPr>
              <a:t>CSV / TSV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153912" y="3712464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3561"/>
                </a:solidFill>
              </a:rPr>
              <a:t>Texto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507224" y="3712464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3561"/>
                </a:solidFill>
              </a:rPr>
              <a:t>pd.read_csv()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736592" y="3931920"/>
            <a:ext cx="4059936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C8D0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3931920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3561"/>
                </a:solidFill>
              </a:rPr>
              <a:t>Excel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153912" y="3931920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3561"/>
                </a:solidFill>
              </a:rPr>
              <a:t>Binário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507224" y="3931920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3561"/>
                </a:solidFill>
              </a:rPr>
              <a:t>pd.read_excel()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736592" y="4151376"/>
            <a:ext cx="4059936" cy="210312"/>
          </a:xfrm>
          <a:prstGeom prst="rect">
            <a:avLst/>
          </a:prstGeom>
          <a:solidFill>
            <a:srgbClr val="F4F6FB"/>
          </a:solidFill>
          <a:ln w="6350">
            <a:solidFill>
              <a:srgbClr val="C8D0E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4151376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3561"/>
                </a:solidFill>
              </a:rPr>
              <a:t>JSON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153912" y="4151376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3561"/>
                </a:solidFill>
              </a:rPr>
              <a:t>Texto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507224" y="4151376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3561"/>
                </a:solidFill>
              </a:rPr>
              <a:t>pd.read_json()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736592" y="4370832"/>
            <a:ext cx="4059936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C8D0E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00600" y="4370832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3561"/>
                </a:solidFill>
              </a:rPr>
              <a:t>Parquet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153912" y="4370832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3561"/>
                </a:solidFill>
              </a:rPr>
              <a:t>Colunar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507224" y="4370832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3561"/>
                </a:solidFill>
              </a:rPr>
              <a:t>pd.read_parquet()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736592" y="4590288"/>
            <a:ext cx="4059936" cy="210312"/>
          </a:xfrm>
          <a:prstGeom prst="rect">
            <a:avLst/>
          </a:prstGeom>
          <a:solidFill>
            <a:srgbClr val="F4F6FB"/>
          </a:solidFill>
          <a:ln w="6350">
            <a:solidFill>
              <a:srgbClr val="C8D0E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00600" y="4590288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3561"/>
                </a:solidFill>
              </a:rPr>
              <a:t>SQL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153912" y="4590288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3561"/>
                </a:solidFill>
              </a:rPr>
              <a:t>Relacional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507224" y="4590288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3561"/>
                </a:solidFill>
              </a:rPr>
              <a:t>pd.read_sql()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" y="48646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4CC"/>
                </a:solidFill>
              </a:rPr>
              <a:t>Prof. Dan Lopes  ·  CEUB  ·  Ciência de Dados  ·  Manipulação de Dados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64592"/>
            <a:ext cx="960120" cy="256032"/>
          </a:xfrm>
          <a:prstGeom prst="rect">
            <a:avLst/>
          </a:prstGeom>
          <a:solidFill>
            <a:srgbClr val="3D6FE8"/>
          </a:solidFill>
          <a:ln w="12700">
            <a:solidFill>
              <a:srgbClr val="3D6F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Limpeza de Dados (Data Cleaning)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0241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99"/>
                </a:solidFill>
              </a:rPr>
              <a:t>Processo de detecção e correção de problemas que comprometem a qualidade dos dados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325880"/>
            <a:ext cx="8321040" cy="16459"/>
          </a:xfrm>
          <a:prstGeom prst="rect">
            <a:avLst/>
          </a:prstGeom>
          <a:solidFill>
            <a:srgbClr val="C8D0E7"/>
          </a:solidFill>
          <a:ln w="12700">
            <a:solidFill>
              <a:srgbClr val="C8D0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444752"/>
            <a:ext cx="4224528" cy="1517904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7"/>
            </a:solidFill>
            <a:prstDash val="solid"/>
          </a:ln>
          <a:effectLst>
            <a:outerShdw sx="100000" sy="100000" kx="0" ky="0" algn="bl" rotWithShape="0" blurRad="76200" dist="25400" dir="16200000">
              <a:srgbClr val="1E2761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" y="1444752"/>
            <a:ext cx="4224528" cy="50292"/>
          </a:xfrm>
          <a:prstGeom prst="rect">
            <a:avLst/>
          </a:prstGeom>
          <a:solidFill>
            <a:srgbClr val="3D6FE8"/>
          </a:solidFill>
          <a:ln w="12700">
            <a:solidFill>
              <a:srgbClr val="3D6F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5361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4B"/>
                </a:solidFill>
              </a:rPr>
              <a:t>Valores Ausentes (Missing Values)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181051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A99"/>
                </a:solidFill>
              </a:rPr>
              <a:t>Observações sem registro em um ou mais atributos. Causas: falha de coleta, integração incompleta.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75488" y="206654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6FE8"/>
                </a:solidFill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2D3561"/>
                </a:solidFill>
              </a:rPr>
              <a:t>Remoção (listwise/pairwise): indicada quando % ausente &lt; 5%
</a:t>
            </a:r>
            <a:pPr indent="0" marL="0">
              <a:buNone/>
            </a:pPr>
            <a:r>
              <a:rPr lang="en-US" sz="900" b="1" dirty="0">
                <a:solidFill>
                  <a:srgbClr val="3D6FE8"/>
                </a:solidFill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2D3561"/>
                </a:solidFill>
              </a:rPr>
              <a:t>Imputação univariada: média/mediana (numérico), moda (categórico)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" y="2578608"/>
            <a:ext cx="4023360" cy="27432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5877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df.fillna(df.mean())  # imputação simples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df.dropna(subset=['renda'])  # remoção seletiva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754880" y="1444752"/>
            <a:ext cx="4224528" cy="1517904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7"/>
            </a:solidFill>
            <a:prstDash val="solid"/>
          </a:ln>
          <a:effectLst>
            <a:outerShdw sx="100000" sy="100000" kx="0" ky="0" algn="bl" rotWithShape="0" blurRad="76200" dist="25400" dir="16200000">
              <a:srgbClr val="1E2761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444752"/>
            <a:ext cx="4224528" cy="50292"/>
          </a:xfrm>
          <a:prstGeom prst="rect">
            <a:avLst/>
          </a:prstGeom>
          <a:solidFill>
            <a:srgbClr val="0EA5B0"/>
          </a:solidFill>
          <a:ln w="12700">
            <a:solidFill>
              <a:srgbClr val="0EA5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82896" y="15361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4B"/>
                </a:solidFill>
              </a:rPr>
              <a:t>Outliers (Valores Atípicos)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82896" y="181051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A99"/>
                </a:solidFill>
              </a:rPr>
              <a:t>Valores que se desviam significativamente da distribuição esperada. Podem ser erros ou eventos raros legítimos.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882896" y="206654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B0"/>
                </a:solidFill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2D3561"/>
                </a:solidFill>
              </a:rPr>
              <a:t>Regra do Z-score: |z| &gt; 3 → outlier (distribuição normal)
</a:t>
            </a:r>
            <a:pPr indent="0" marL="0">
              <a:buNone/>
            </a:pPr>
            <a:r>
              <a:rPr lang="en-US" sz="900" b="1" dirty="0">
                <a:solidFill>
                  <a:srgbClr val="0EA5B0"/>
                </a:solidFill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2D3561"/>
                </a:solidFill>
              </a:rPr>
              <a:t>Regra do IQR: &lt; Q1 − 1.5×IQR ou &gt; Q3 + 1.5×IQR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82896" y="2578608"/>
            <a:ext cx="4023360" cy="27432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5877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Q1, Q3 = df.quantile([.25,.75])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IQR = Q3 - Q1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mask = (df &gt;= Q1-1.5*IQR) &amp; (df &lt;= Q3+1.5*IQR)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47472" y="3108960"/>
            <a:ext cx="4224528" cy="1517904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7"/>
            </a:solidFill>
            <a:prstDash val="solid"/>
          </a:ln>
          <a:effectLst>
            <a:outerShdw sx="100000" sy="100000" kx="0" ky="0" algn="bl" rotWithShape="0" blurRad="76200" dist="25400" dir="16200000">
              <a:srgbClr val="1E2761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47472" y="3108960"/>
            <a:ext cx="4224528" cy="50292"/>
          </a:xfrm>
          <a:prstGeom prst="rect">
            <a:avLst/>
          </a:prstGeom>
          <a:solidFill>
            <a:srgbClr val="3D6FE8"/>
          </a:solidFill>
          <a:ln w="12700">
            <a:solidFill>
              <a:srgbClr val="3D6F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32004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4B"/>
                </a:solidFill>
              </a:rPr>
              <a:t>Duplicatas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" y="34747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A99"/>
                </a:solidFill>
              </a:rPr>
              <a:t>Registros idênticos ou quase idênticos representando a mesma observação real. Causas: ingestão múltipla, integração.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5488" y="373075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6FE8"/>
                </a:solidFill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2D3561"/>
                </a:solidFill>
              </a:rPr>
              <a:t>Duplicatas exatas: df.duplicated() → df.drop_duplicates()
</a:t>
            </a:r>
            <a:pPr indent="0" marL="0">
              <a:buNone/>
            </a:pPr>
            <a:r>
              <a:rPr lang="en-US" sz="900" b="1" dirty="0">
                <a:solidFill>
                  <a:srgbClr val="3D6FE8"/>
                </a:solidFill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2D3561"/>
                </a:solidFill>
              </a:rPr>
              <a:t>Duplicatas fuzzy: Record Linkage, similaridade de Levenshtein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" y="4242816"/>
            <a:ext cx="4023360" cy="27432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42519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df.duplicated().sum()  # conta duplicatas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df.drop_duplicates(subset=['cpf'], keep='first')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754880" y="3108960"/>
            <a:ext cx="4224528" cy="1517904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7"/>
            </a:solidFill>
            <a:prstDash val="solid"/>
          </a:ln>
          <a:effectLst>
            <a:outerShdw sx="100000" sy="100000" kx="0" ky="0" algn="bl" rotWithShape="0" blurRad="76200" dist="25400" dir="16200000">
              <a:srgbClr val="1E2761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108960"/>
            <a:ext cx="4224528" cy="50292"/>
          </a:xfrm>
          <a:prstGeom prst="rect">
            <a:avLst/>
          </a:prstGeom>
          <a:solidFill>
            <a:srgbClr val="0EA5B0"/>
          </a:solidFill>
          <a:ln w="12700">
            <a:solidFill>
              <a:srgbClr val="0EA5B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82896" y="32004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4B"/>
                </a:solidFill>
              </a:rPr>
              <a:t>Inconsistências de Tipo e Formato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82896" y="34747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A99"/>
                </a:solidFill>
              </a:rPr>
              <a:t>Colunas com tipos incorretos, formatos mistos (datas, moedas, strings que deveriam ser numéricas).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882896" y="373075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B0"/>
                </a:solidFill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2D3561"/>
                </a:solidFill>
              </a:rPr>
              <a:t>Verificação: df.dtypes, df.info(), pd.api.types.is_numeric_dtype()
</a:t>
            </a:r>
            <a:pPr indent="0" marL="0">
              <a:buNone/>
            </a:pPr>
            <a:r>
              <a:rPr lang="en-US" sz="900" b="1" dirty="0">
                <a:solidFill>
                  <a:srgbClr val="0EA5B0"/>
                </a:solidFill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2D3561"/>
                </a:solidFill>
              </a:rPr>
              <a:t>Conversão: pd.to_numeric(), pd.to_datetime(), astype()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82896" y="4242816"/>
            <a:ext cx="4023360" cy="27432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42519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df['data'] = pd.to_datetime(df['data'], dayfirst=True)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df['valor'] = pd.to_numeric(df['valor'], errors='coerce')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48646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4CC"/>
                </a:solidFill>
              </a:rPr>
              <a:t>Prof. Dan Lopes  ·  CEUB  ·  Ciência de Dados  ·  Manipulação de Dados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64592"/>
            <a:ext cx="960120" cy="256032"/>
          </a:xfrm>
          <a:prstGeom prst="rect">
            <a:avLst/>
          </a:prstGeom>
          <a:solidFill>
            <a:srgbClr val="3D6FE8"/>
          </a:solidFill>
          <a:ln w="12700">
            <a:solidFill>
              <a:srgbClr val="3D6F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Transformação de Dados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0241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99"/>
                </a:solidFill>
              </a:rPr>
              <a:t>Conversão de dados brutos limpos em representações adequadas para modelagem estatística e ML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325880"/>
            <a:ext cx="8321040" cy="16459"/>
          </a:xfrm>
          <a:prstGeom prst="rect">
            <a:avLst/>
          </a:prstGeom>
          <a:solidFill>
            <a:srgbClr val="C8D0E7"/>
          </a:solidFill>
          <a:ln w="12700">
            <a:solidFill>
              <a:srgbClr val="C8D0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444752"/>
            <a:ext cx="482803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7"/>
            </a:solidFill>
            <a:prstDash val="solid"/>
          </a:ln>
          <a:effectLst>
            <a:outerShdw sx="100000" sy="100000" kx="0" ky="0" algn="bl" rotWithShape="0" blurRad="76200" dist="25400" dir="16200000">
              <a:srgbClr val="1E2761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" y="1444752"/>
            <a:ext cx="50292" cy="1005840"/>
          </a:xfrm>
          <a:prstGeom prst="rect">
            <a:avLst/>
          </a:prstGeom>
          <a:solidFill>
            <a:srgbClr val="3D6FE8"/>
          </a:solidFill>
          <a:ln w="12700">
            <a:solidFill>
              <a:srgbClr val="3D6F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49961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4B"/>
                </a:solidFill>
              </a:rPr>
              <a:t>Normalização e Escalonamento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30352" y="1810512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6FE8"/>
                </a:solidFill>
              </a:rPr>
              <a:t>Min-Max Scaling:  </a:t>
            </a:r>
            <a:pPr indent="0" marL="0">
              <a:buNone/>
            </a:pPr>
            <a:r>
              <a:rPr lang="en-US" sz="950" dirty="0">
                <a:solidFill>
                  <a:srgbClr val="2D3561"/>
                </a:solidFill>
              </a:rPr>
              <a:t>x' = (x − min) / (max − min)  →  [0, 1]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30352" y="2011680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6FE8"/>
                </a:solidFill>
              </a:rPr>
              <a:t>Z-score Standardization:  </a:t>
            </a:r>
            <a:pPr indent="0" marL="0">
              <a:buNone/>
            </a:pPr>
            <a:r>
              <a:rPr lang="en-US" sz="950" dirty="0">
                <a:solidFill>
                  <a:srgbClr val="2D3561"/>
                </a:solidFill>
              </a:rPr>
              <a:t>x' = (x − μ) / σ  →  média 0, desvio 1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30352" y="221284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6FE8"/>
                </a:solidFill>
              </a:rPr>
              <a:t>Robust Scaler:  </a:t>
            </a:r>
            <a:pPr indent="0" marL="0">
              <a:buNone/>
            </a:pPr>
            <a:r>
              <a:rPr lang="en-US" sz="950" dirty="0">
                <a:solidFill>
                  <a:srgbClr val="2D3561"/>
                </a:solidFill>
              </a:rPr>
              <a:t>x' = (x − mediana) / IQR  →  robusto a outliers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7472" y="2596896"/>
            <a:ext cx="482803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7"/>
            </a:solidFill>
            <a:prstDash val="solid"/>
          </a:ln>
          <a:effectLst>
            <a:outerShdw sx="100000" sy="100000" kx="0" ky="0" algn="bl" rotWithShape="0" blurRad="76200" dist="25400" dir="16200000">
              <a:srgbClr val="1E2761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7472" y="2596896"/>
            <a:ext cx="50292" cy="1005840"/>
          </a:xfrm>
          <a:prstGeom prst="rect">
            <a:avLst/>
          </a:prstGeom>
          <a:solidFill>
            <a:srgbClr val="0EA5B0"/>
          </a:solidFill>
          <a:ln w="12700">
            <a:solidFill>
              <a:srgbClr val="0EA5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65176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4B"/>
                </a:solidFill>
              </a:rPr>
              <a:t>Codificação de Variáveis Categóricas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30352" y="2962656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B0"/>
                </a:solidFill>
              </a:rPr>
              <a:t>Label Encoding:  </a:t>
            </a:r>
            <a:pPr indent="0" marL="0">
              <a:buNone/>
            </a:pPr>
            <a:r>
              <a:rPr lang="en-US" sz="950" dirty="0">
                <a:solidFill>
                  <a:srgbClr val="2D3561"/>
                </a:solidFill>
              </a:rPr>
              <a:t>Ordinal: 'baixo'→0, 'médio'→1, 'alto'→2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30352" y="3163824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B0"/>
                </a:solidFill>
              </a:rPr>
              <a:t>One-Hot Encoding:  </a:t>
            </a:r>
            <a:pPr indent="0" marL="0">
              <a:buNone/>
            </a:pPr>
            <a:r>
              <a:rPr lang="en-US" sz="950" dirty="0">
                <a:solidFill>
                  <a:srgbClr val="2D3561"/>
                </a:solidFill>
              </a:rPr>
              <a:t>Nominal: cria coluna binária por categoria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30352" y="3364992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B0"/>
                </a:solidFill>
              </a:rPr>
              <a:t>Target / Frequency Encoding:  </a:t>
            </a:r>
            <a:pPr indent="0" marL="0">
              <a:buNone/>
            </a:pPr>
            <a:r>
              <a:rPr lang="en-US" sz="950" dirty="0">
                <a:solidFill>
                  <a:srgbClr val="2D3561"/>
                </a:solidFill>
              </a:rPr>
              <a:t>Substitui por estatística da variável-alvo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47472" y="3749040"/>
            <a:ext cx="482803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7"/>
            </a:solidFill>
            <a:prstDash val="solid"/>
          </a:ln>
          <a:effectLst>
            <a:outerShdw sx="100000" sy="100000" kx="0" ky="0" algn="bl" rotWithShape="0" blurRad="76200" dist="25400" dir="16200000">
              <a:srgbClr val="1E2761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7472" y="3749040"/>
            <a:ext cx="50292" cy="1005840"/>
          </a:xfrm>
          <a:prstGeom prst="rect">
            <a:avLst/>
          </a:prstGeom>
          <a:solidFill>
            <a:srgbClr val="3D6FE8"/>
          </a:solidFill>
          <a:ln w="12700">
            <a:solidFill>
              <a:srgbClr val="3D6F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803904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4B"/>
                </a:solidFill>
              </a:rPr>
              <a:t>Feature Engineering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30352" y="4114800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6FE8"/>
                </a:solidFill>
              </a:rPr>
              <a:t>Extração temporal:  </a:t>
            </a:r>
            <a:pPr indent="0" marL="0">
              <a:buNone/>
            </a:pPr>
            <a:r>
              <a:rPr lang="en-US" sz="950" dirty="0">
                <a:solidFill>
                  <a:srgbClr val="2D3561"/>
                </a:solidFill>
              </a:rPr>
              <a:t>Criar dia, mês, semana, trimestre a partir de datas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30352" y="431596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6FE8"/>
                </a:solidFill>
              </a:rPr>
              <a:t>Interações:  </a:t>
            </a:r>
            <a:pPr indent="0" marL="0">
              <a:buNone/>
            </a:pPr>
            <a:r>
              <a:rPr lang="en-US" sz="950" dirty="0">
                <a:solidFill>
                  <a:srgbClr val="2D3561"/>
                </a:solidFill>
              </a:rPr>
              <a:t>x₁ × x₂ ; log(x) ; √x ; x² — transformações matemáticas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30352" y="4517136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6FE8"/>
                </a:solidFill>
              </a:rPr>
              <a:t>Binning / Discretização:  </a:t>
            </a:r>
            <a:pPr indent="0" marL="0">
              <a:buNone/>
            </a:pPr>
            <a:r>
              <a:rPr lang="en-US" sz="950" dirty="0">
                <a:solidFill>
                  <a:srgbClr val="2D3561"/>
                </a:solidFill>
              </a:rPr>
              <a:t>pd.cut() / pd.qcut() → faixas etárias, decis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340096" y="1444752"/>
            <a:ext cx="3456432" cy="256032"/>
          </a:xfrm>
          <a:prstGeom prst="rect">
            <a:avLst/>
          </a:prstGeom>
          <a:solidFill>
            <a:srgbClr val="161B22"/>
          </a:solidFill>
          <a:ln w="1016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31536" y="1463040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Python · scikit-learn Pipeline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340096" y="1700784"/>
            <a:ext cx="3456432" cy="2688336"/>
          </a:xfrm>
          <a:prstGeom prst="rect">
            <a:avLst/>
          </a:prstGeom>
          <a:solidFill>
            <a:srgbClr val="0D1117"/>
          </a:solidFill>
          <a:ln w="1016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16200000">
              <a:srgbClr val="1E2761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431536" y="1737360"/>
            <a:ext cx="3273552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sklearn.preprocessing </a:t>
            </a:r>
            <a:pPr indent="0" marL="0">
              <a:buNone/>
            </a:pPr>
            <a:r>
              <a:rPr lang="en-US" sz="8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
    MinMaxScaler, StandardScaler,
    OneHotEncoder, LabelEncoder)
</a:t>
            </a:r>
            <a:pPr indent="0" marL="0">
              <a:buNone/>
            </a:pPr>
            <a:r>
              <a:rPr lang="en-US" sz="8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sklearn.pipeline </a:t>
            </a:r>
            <a:pPr indent="0" marL="0">
              <a:buNone/>
            </a:pPr>
            <a:r>
              <a:rPr lang="en-US" sz="8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Pipeline
</a:t>
            </a:r>
            <a:pPr indent="0" marL="0">
              <a:buNone/>
            </a:pPr>
            <a:r>
              <a:rPr lang="en-US" sz="8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sklearn.compose </a:t>
            </a:r>
            <a:pPr indent="0" marL="0">
              <a:buNone/>
            </a:pPr>
            <a:r>
              <a:rPr lang="en-US" sz="8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ColumnTransformer
</a:t>
            </a:r>
            <a:pPr indent="0" marL="0">
              <a:buNone/>
            </a:pPr>
            <a:r>
              <a:rPr lang="en-US" sz="8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Definição das colunas
</a:t>
            </a:r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num_features = [</a:t>
            </a:r>
            <a:pPr indent="0" marL="0"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"idade"</a:t>
            </a:r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"renda"</a:t>
            </a:r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
</a:t>
            </a:r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cat_features = [</a:t>
            </a:r>
            <a:pPr indent="0" marL="0"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"regiao"</a:t>
            </a:r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"escolaridade"</a:t>
            </a:r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
</a:t>
            </a:r>
            <a:pPr indent="0" marL="0">
              <a:buNone/>
            </a:pPr>
            <a:r>
              <a:rPr lang="en-US" sz="8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Pipeline de pré-processamento
</a:t>
            </a:r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preprocessor = ColumnTransformer([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"num"</a:t>
            </a:r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StandardScaler(), num_features),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"cat"</a:t>
            </a:r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OneHotEncoder(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drop=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"first"</a:t>
            </a:r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 cat_features),
])
</a:t>
            </a:r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= Pipeline([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"prep"</a:t>
            </a:r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preprocessor),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"model"</a:t>
            </a:r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LogisticRegression())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pipeline.fit(X_train, y_train)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47472" y="4535424"/>
            <a:ext cx="8449056" cy="164592"/>
          </a:xfrm>
          <a:prstGeom prst="rect">
            <a:avLst/>
          </a:prstGeom>
          <a:solidFill>
            <a:srgbClr val="C8D0E7"/>
          </a:solidFill>
          <a:ln w="12700">
            <a:solidFill>
              <a:srgbClr val="C8D0E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48646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4CC"/>
                </a:solidFill>
              </a:rPr>
              <a:t>Prof. Dan Lopes  ·  CEUB  ·  Ciência de Dados  ·  Manipulação de Dados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64592"/>
            <a:ext cx="960120" cy="256032"/>
          </a:xfrm>
          <a:prstGeom prst="rect">
            <a:avLst/>
          </a:prstGeom>
          <a:solidFill>
            <a:srgbClr val="3D6FE8"/>
          </a:solidFill>
          <a:ln w="12700">
            <a:solidFill>
              <a:srgbClr val="3D6F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Integração e Fusão de Dados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0241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99"/>
                </a:solidFill>
              </a:rPr>
              <a:t>Combinação de dados provenientes de múltiplas fontes em um conjunto coeso e consistente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325880"/>
            <a:ext cx="8321040" cy="16459"/>
          </a:xfrm>
          <a:prstGeom prst="rect">
            <a:avLst/>
          </a:prstGeom>
          <a:solidFill>
            <a:srgbClr val="C8D0E7"/>
          </a:solidFill>
          <a:ln w="12700">
            <a:solidFill>
              <a:srgbClr val="C8D0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444752"/>
            <a:ext cx="4224528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7"/>
            </a:solidFill>
            <a:prstDash val="solid"/>
          </a:ln>
          <a:effectLst>
            <a:outerShdw sx="100000" sy="100000" kx="0" ky="0" algn="bl" rotWithShape="0" blurRad="76200" dist="25400" dir="16200000">
              <a:srgbClr val="1E2761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" y="1444752"/>
            <a:ext cx="50292" cy="1060704"/>
          </a:xfrm>
          <a:prstGeom prst="rect">
            <a:avLst/>
          </a:prstGeom>
          <a:solidFill>
            <a:srgbClr val="3D6FE8"/>
          </a:solidFill>
          <a:ln w="12700">
            <a:solidFill>
              <a:srgbClr val="3D6F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5087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6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 JOIN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" y="177393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561"/>
                </a:solidFill>
              </a:rPr>
              <a:t>Retorna apenas registros com correspondência nos dois conjuntos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" y="2057400"/>
            <a:ext cx="3931920" cy="329184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06654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pd.merge(df1, df2, on='id', how='inner')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754880" y="1444752"/>
            <a:ext cx="4224528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7"/>
            </a:solidFill>
            <a:prstDash val="solid"/>
          </a:ln>
          <a:effectLst>
            <a:outerShdw sx="100000" sy="100000" kx="0" ky="0" algn="bl" rotWithShape="0" blurRad="76200" dist="25400" dir="16200000">
              <a:srgbClr val="1E2761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444752"/>
            <a:ext cx="50292" cy="1060704"/>
          </a:xfrm>
          <a:prstGeom prst="rect">
            <a:avLst/>
          </a:prstGeom>
          <a:solidFill>
            <a:srgbClr val="0EA5B0"/>
          </a:solidFill>
          <a:ln w="12700">
            <a:solidFill>
              <a:srgbClr val="0EA5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82896" y="15087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82896" y="177393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561"/>
                </a:solidFill>
              </a:rPr>
              <a:t>Todos da esquerda + correspondências da direita (NaN onde ausente)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82896" y="2057400"/>
            <a:ext cx="3931920" cy="329184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206654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pd.merge(df1, df2, on='id', how='left')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47472" y="2651760"/>
            <a:ext cx="4224528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7"/>
            </a:solidFill>
            <a:prstDash val="solid"/>
          </a:ln>
          <a:effectLst>
            <a:outerShdw sx="100000" sy="100000" kx="0" ky="0" algn="bl" rotWithShape="0" blurRad="76200" dist="25400" dir="16200000">
              <a:srgbClr val="1E2761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7472" y="2651760"/>
            <a:ext cx="50292" cy="1060704"/>
          </a:xfrm>
          <a:prstGeom prst="rect">
            <a:avLst/>
          </a:prstGeom>
          <a:solidFill>
            <a:srgbClr val="3D6FE8"/>
          </a:solidFill>
          <a:ln w="12700">
            <a:solidFill>
              <a:srgbClr val="3D6F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27157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6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OUTER JOIN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" y="298094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561"/>
                </a:solidFill>
              </a:rPr>
              <a:t>Todos os registros de ambos os lados (NaN onde ausente)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" y="3264408"/>
            <a:ext cx="3931920" cy="329184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327355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pd.merge(df1, df2, on='id', how='outer')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754880" y="2651760"/>
            <a:ext cx="4224528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7"/>
            </a:solidFill>
            <a:prstDash val="solid"/>
          </a:ln>
          <a:effectLst>
            <a:outerShdw sx="100000" sy="100000" kx="0" ky="0" algn="bl" rotWithShape="0" blurRad="76200" dist="25400" dir="16200000">
              <a:srgbClr val="1E2761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2651760"/>
            <a:ext cx="50292" cy="1060704"/>
          </a:xfrm>
          <a:prstGeom prst="rect">
            <a:avLst/>
          </a:prstGeom>
          <a:solidFill>
            <a:srgbClr val="0EA5B0"/>
          </a:solidFill>
          <a:ln w="12700">
            <a:solidFill>
              <a:srgbClr val="0EA5B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82896" y="27157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CONCAT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82896" y="298094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561"/>
                </a:solidFill>
              </a:rPr>
              <a:t>Empilhamento vertical/horizontal sem chave de junção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82896" y="3264408"/>
            <a:ext cx="3931920" cy="329184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327355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pd.concat([df1, df2], axis=0, ignore_index=True)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47472" y="4005072"/>
            <a:ext cx="8449056" cy="694944"/>
          </a:xfrm>
          <a:prstGeom prst="rect">
            <a:avLst/>
          </a:prstGeom>
          <a:solidFill>
            <a:srgbClr val="EEF2FA"/>
          </a:solidFill>
          <a:ln w="9525">
            <a:solidFill>
              <a:srgbClr val="C8D0E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7472" y="4005072"/>
            <a:ext cx="50292" cy="6949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0416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4B"/>
                </a:solidFill>
              </a:rPr>
              <a:t>Desafios de Integração: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02920" y="43159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561"/>
                </a:solidFill>
              </a:rPr>
              <a:t>›  Conflito de esquemas (colunas com nomes diferentes)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520440" y="43159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561"/>
                </a:solidFill>
              </a:rPr>
              <a:t>›  Inconsistência semântica (mesma informação em formatos distintos)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172200" y="43159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561"/>
                </a:solidFill>
              </a:rPr>
              <a:t>›  Diferença de granularidade entre fontes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48646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4CC"/>
                </a:solidFill>
              </a:rPr>
              <a:t>Prof. Dan Lopes  ·  CEUB  ·  Ciência de Dados  ·  Manipulação de Dados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64592"/>
            <a:ext cx="960120" cy="256032"/>
          </a:xfrm>
          <a:prstGeom prst="rect">
            <a:avLst/>
          </a:prstGeom>
          <a:solidFill>
            <a:srgbClr val="3D6FE8"/>
          </a:solidFill>
          <a:ln w="12700">
            <a:solidFill>
              <a:srgbClr val="3D6F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Qualidade de Dados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0241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99"/>
                </a:solidFill>
              </a:rPr>
              <a:t>Garantia de que o conjunto final satisfaz critérios mínimos antes de uso em modelos ou relatórios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325880"/>
            <a:ext cx="8321040" cy="16459"/>
          </a:xfrm>
          <a:prstGeom prst="rect">
            <a:avLst/>
          </a:prstGeom>
          <a:solidFill>
            <a:srgbClr val="C8D0E7"/>
          </a:solidFill>
          <a:ln w="12700">
            <a:solidFill>
              <a:srgbClr val="C8D0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463040"/>
            <a:ext cx="153619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7"/>
            </a:solidFill>
            <a:prstDash val="solid"/>
          </a:ln>
          <a:effectLst>
            <a:outerShdw sx="100000" sy="100000" kx="0" ky="0" algn="bl" rotWithShape="0" blurRad="76200" dist="25400" dir="16200000">
              <a:srgbClr val="1E2761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" y="1463040"/>
            <a:ext cx="1536192" cy="50292"/>
          </a:xfrm>
          <a:prstGeom prst="rect">
            <a:avLst/>
          </a:prstGeom>
          <a:solidFill>
            <a:srgbClr val="3D6FE8"/>
          </a:solidFill>
          <a:ln w="12700">
            <a:solidFill>
              <a:srgbClr val="3D6F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536192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02336" y="201168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F4B"/>
                </a:solidFill>
              </a:rPr>
              <a:t>Completude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02336" y="2304288"/>
            <a:ext cx="1426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99"/>
                </a:solidFill>
              </a:rPr>
              <a:t>% de campos preenchidos vs esperados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039112" y="1463040"/>
            <a:ext cx="153619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7"/>
            </a:solidFill>
            <a:prstDash val="solid"/>
          </a:ln>
          <a:effectLst>
            <a:outerShdw sx="100000" sy="100000" kx="0" ky="0" algn="bl" rotWithShape="0" blurRad="76200" dist="25400" dir="16200000">
              <a:srgbClr val="1E2761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39112" y="1463040"/>
            <a:ext cx="1536192" cy="50292"/>
          </a:xfrm>
          <a:prstGeom prst="rect">
            <a:avLst/>
          </a:prstGeom>
          <a:solidFill>
            <a:srgbClr val="0EA5B0"/>
          </a:solidFill>
          <a:ln w="12700">
            <a:solidFill>
              <a:srgbClr val="0EA5B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39112" y="1536192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093976" y="201168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F4B"/>
                </a:solidFill>
              </a:rPr>
              <a:t>Acurácia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093976" y="2304288"/>
            <a:ext cx="1426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99"/>
                </a:solidFill>
              </a:rPr>
              <a:t>Proximidade ao valor verdadeiro real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730752" y="1463040"/>
            <a:ext cx="153619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7"/>
            </a:solidFill>
            <a:prstDash val="solid"/>
          </a:ln>
          <a:effectLst>
            <a:outerShdw sx="100000" sy="100000" kx="0" ky="0" algn="bl" rotWithShape="0" blurRad="76200" dist="25400" dir="16200000">
              <a:srgbClr val="1E2761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30752" y="1463040"/>
            <a:ext cx="1536192" cy="50292"/>
          </a:xfrm>
          <a:prstGeom prst="rect">
            <a:avLst/>
          </a:prstGeom>
          <a:solidFill>
            <a:srgbClr val="3D6FE8"/>
          </a:solidFill>
          <a:ln w="12700">
            <a:solidFill>
              <a:srgbClr val="3D6F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30752" y="1536192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785616" y="201168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F4B"/>
                </a:solidFill>
              </a:rPr>
              <a:t>Consistência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785616" y="2304288"/>
            <a:ext cx="1426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99"/>
                </a:solidFill>
              </a:rPr>
              <a:t>Ausência de contradições entre fontes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422392" y="1463040"/>
            <a:ext cx="153619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7"/>
            </a:solidFill>
            <a:prstDash val="solid"/>
          </a:ln>
          <a:effectLst>
            <a:outerShdw sx="100000" sy="100000" kx="0" ky="0" algn="bl" rotWithShape="0" blurRad="76200" dist="25400" dir="16200000">
              <a:srgbClr val="1E2761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22392" y="1463040"/>
            <a:ext cx="1536192" cy="50292"/>
          </a:xfrm>
          <a:prstGeom prst="rect">
            <a:avLst/>
          </a:prstGeom>
          <a:solidFill>
            <a:srgbClr val="0EA5B0"/>
          </a:solidFill>
          <a:ln w="12700">
            <a:solidFill>
              <a:srgbClr val="0EA5B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22392" y="1536192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🔑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477256" y="201168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F4B"/>
                </a:solidFill>
              </a:rPr>
              <a:t>Unicidade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77256" y="2304288"/>
            <a:ext cx="1426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99"/>
                </a:solidFill>
              </a:rPr>
              <a:t>Ausência de duplicatas não intencio.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114032" y="1463040"/>
            <a:ext cx="153619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7"/>
            </a:solidFill>
            <a:prstDash val="solid"/>
          </a:ln>
          <a:effectLst>
            <a:outerShdw sx="100000" sy="100000" kx="0" ky="0" algn="bl" rotWithShape="0" blurRad="76200" dist="25400" dir="16200000">
              <a:srgbClr val="1E2761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114032" y="1463040"/>
            <a:ext cx="1536192" cy="5029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14032" y="1536192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⏱️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168896" y="201168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F4B"/>
                </a:solidFill>
              </a:rPr>
              <a:t>Temporalidade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168896" y="2304288"/>
            <a:ext cx="1426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99"/>
                </a:solidFill>
              </a:rPr>
              <a:t>Atualidade dos dados para o uso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47472" y="2999232"/>
            <a:ext cx="2724912" cy="1700784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7"/>
            </a:solidFill>
            <a:prstDash val="solid"/>
          </a:ln>
          <a:effectLst>
            <a:outerShdw sx="100000" sy="100000" kx="0" ky="0" algn="bl" rotWithShape="0" blurRad="76200" dist="25400" dir="16200000">
              <a:srgbClr val="1E2761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47472" y="2999232"/>
            <a:ext cx="50292" cy="1700784"/>
          </a:xfrm>
          <a:prstGeom prst="rect">
            <a:avLst/>
          </a:prstGeom>
          <a:solidFill>
            <a:srgbClr val="3D6FE8"/>
          </a:solidFill>
          <a:ln w="12700">
            <a:solidFill>
              <a:srgbClr val="3D6F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" y="30540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4B"/>
                </a:solidFill>
              </a:rPr>
              <a:t>Great Expectations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5488" y="334670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561"/>
                </a:solidFill>
              </a:rPr>
              <a:t>Framework Python para definir expectativas sobre dados (ex.: coluna nunca nula, valor entre 0–150). Gera relatórios HTML automáticos.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75488" y="3785616"/>
            <a:ext cx="2468880" cy="77724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0352" y="3803904"/>
            <a:ext cx="23774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EE8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expect_column_values_to_not_be_null("cpf")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EE8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expect_column_values_to_be_between("idade", 0, 150)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227832" y="2999232"/>
            <a:ext cx="2724912" cy="1700784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7"/>
            </a:solidFill>
            <a:prstDash val="solid"/>
          </a:ln>
          <a:effectLst>
            <a:outerShdw sx="100000" sy="100000" kx="0" ky="0" algn="bl" rotWithShape="0" blurRad="76200" dist="25400" dir="16200000">
              <a:srgbClr val="1E2761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227832" y="2999232"/>
            <a:ext cx="50292" cy="1700784"/>
          </a:xfrm>
          <a:prstGeom prst="rect">
            <a:avLst/>
          </a:prstGeom>
          <a:solidFill>
            <a:srgbClr val="0EA5B0"/>
          </a:solidFill>
          <a:ln w="12700">
            <a:solidFill>
              <a:srgbClr val="0EA5B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55848" y="30540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4B"/>
                </a:solidFill>
              </a:rPr>
              <a:t>Pandera / Pydantic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355848" y="334670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561"/>
                </a:solidFill>
              </a:rPr>
              <a:t>Validação de schema baseada em tipo: define dtypes, ranges e constraints diretamente em Python com decoradores.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355848" y="3785616"/>
            <a:ext cx="2468880" cy="77724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10712" y="3803904"/>
            <a:ext cx="23774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EE8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 = pa.DataFrameSchema({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EE8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"idade": pa.Column(int, pa.Check.ge(0))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EE8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108192" y="2999232"/>
            <a:ext cx="2724912" cy="1700784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7"/>
            </a:solidFill>
            <a:prstDash val="solid"/>
          </a:ln>
          <a:effectLst>
            <a:outerShdw sx="100000" sy="100000" kx="0" ky="0" algn="bl" rotWithShape="0" blurRad="76200" dist="25400" dir="16200000">
              <a:srgbClr val="1E2761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08192" y="2999232"/>
            <a:ext cx="50292" cy="1700784"/>
          </a:xfrm>
          <a:prstGeom prst="rect">
            <a:avLst/>
          </a:prstGeom>
          <a:solidFill>
            <a:srgbClr val="3D6FE8"/>
          </a:solidFill>
          <a:ln w="12700">
            <a:solidFill>
              <a:srgbClr val="3D6F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36208" y="30540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4B"/>
                </a:solidFill>
              </a:rPr>
              <a:t>dbt Tests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236208" y="334670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561"/>
                </a:solidFill>
              </a:rPr>
              <a:t>No contexto ELT/Databricks: testes SQL nativos (not_null, unique, accepted_values) e testes customizados em YAML.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236208" y="3785616"/>
            <a:ext cx="2468880" cy="77724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91072" y="3803904"/>
            <a:ext cx="23774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EE8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EE8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name: clientes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EE8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columns: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EE8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cpf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EE8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tests: [not_null, unique]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1480" y="48646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4CC"/>
                </a:solidFill>
              </a:rPr>
              <a:t>Prof. Dan Lopes  ·  CEUB  ·  Ciência de Dados  ·  Manipulação de Dados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64592"/>
            <a:ext cx="960120" cy="256032"/>
          </a:xfrm>
          <a:prstGeom prst="rect">
            <a:avLst/>
          </a:prstGeom>
          <a:solidFill>
            <a:srgbClr val="3D6FE8"/>
          </a:solidFill>
          <a:ln w="12700">
            <a:solidFill>
              <a:srgbClr val="3D6F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EDA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Exploratória de Dados (EDA)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0241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99"/>
                </a:solidFill>
              </a:rPr>
              <a:t>Etapa de compreensão da estrutura, distribuições e relações antes da modelagem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325880"/>
            <a:ext cx="8321040" cy="16459"/>
          </a:xfrm>
          <a:prstGeom prst="rect">
            <a:avLst/>
          </a:prstGeom>
          <a:solidFill>
            <a:srgbClr val="C8D0E7"/>
          </a:solidFill>
          <a:ln w="12700">
            <a:solidFill>
              <a:srgbClr val="C8D0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444752"/>
            <a:ext cx="2724912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7"/>
            </a:solidFill>
            <a:prstDash val="solid"/>
          </a:ln>
          <a:effectLst>
            <a:outerShdw sx="100000" sy="100000" kx="0" ky="0" algn="bl" rotWithShape="0" blurRad="76200" dist="25400" dir="16200000">
              <a:srgbClr val="1E2761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" y="1444752"/>
            <a:ext cx="2724912" cy="50292"/>
          </a:xfrm>
          <a:prstGeom prst="rect">
            <a:avLst/>
          </a:prstGeom>
          <a:solidFill>
            <a:srgbClr val="3D6FE8"/>
          </a:solidFill>
          <a:ln w="12700">
            <a:solidFill>
              <a:srgbClr val="3D6F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99616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6FE8"/>
                </a:solidFill>
              </a:rPr>
              <a:t>Estatísticas Descritivas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865376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4B"/>
                </a:solidFill>
              </a:rPr>
              <a:t>Tendência Central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084832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561"/>
                </a:solidFill>
              </a:rPr>
              <a:t>Média aritmética, mediana, moda — cada uma adequada a diferentes distribuições e presença de outliers.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7200" y="2569464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4B"/>
                </a:solidFill>
              </a:rPr>
              <a:t>Dispersão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788920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561"/>
                </a:solidFill>
              </a:rPr>
              <a:t>Variância (σ²), desvio padrão (σ), amplitude interquartil (IQR), coeficiente de variação (CV%).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" y="3273552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4B"/>
                </a:solidFill>
              </a:rPr>
              <a:t>Forma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493008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561"/>
                </a:solidFill>
              </a:rPr>
              <a:t>Assimetria (skewness): desvio da simetria. Curtose (kurtosis): "pesadeza" das caudas.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" y="3977640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4B"/>
                </a:solidFill>
              </a:rPr>
              <a:t>Correlação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197096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561"/>
                </a:solidFill>
              </a:rPr>
              <a:t>Pearson (linear), Spearman (monótona), Kendall (ordinal) — matriz de correlação.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18688" y="1444752"/>
            <a:ext cx="2724912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7"/>
            </a:solidFill>
            <a:prstDash val="solid"/>
          </a:ln>
          <a:effectLst>
            <a:outerShdw sx="100000" sy="100000" kx="0" ky="0" algn="bl" rotWithShape="0" blurRad="76200" dist="25400" dir="16200000">
              <a:srgbClr val="1E2761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18688" y="1444752"/>
            <a:ext cx="2724912" cy="50292"/>
          </a:xfrm>
          <a:prstGeom prst="rect">
            <a:avLst/>
          </a:prstGeom>
          <a:solidFill>
            <a:srgbClr val="0EA5B0"/>
          </a:solidFill>
          <a:ln w="12700">
            <a:solidFill>
              <a:srgbClr val="0EA5B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28416" y="1499616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B0"/>
                </a:solidFill>
              </a:rPr>
              <a:t>Visualizações Essenciais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28416" y="1865376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4B"/>
                </a:solidFill>
              </a:rPr>
              <a:t>Histograma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28416" y="2084832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561"/>
                </a:solidFill>
              </a:rPr>
              <a:t>Distribuição de frequências de variável contínua; detecta assimetria e multimodalidade.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328416" y="2569464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4B"/>
                </a:solidFill>
              </a:rPr>
              <a:t>Boxplot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28416" y="2788920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561"/>
                </a:solidFill>
              </a:rPr>
              <a:t>Síntese dos quartis e outliers. Comparação entre grupos (boxplot agrupado).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328416" y="3273552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4B"/>
                </a:solidFill>
              </a:rPr>
              <a:t>Scatter Plot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28416" y="3493008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561"/>
                </a:solidFill>
              </a:rPr>
              <a:t>Correlação bivariada; colorizado por classe revela separabilidade.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328416" y="3977640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4B"/>
                </a:solidFill>
              </a:rPr>
              <a:t>Heatmap de correlação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28416" y="4197096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561"/>
                </a:solidFill>
              </a:rPr>
              <a:t>Visão matricial das correlações — identifica multicolinearidade para modelos lineares.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089904" y="1444752"/>
            <a:ext cx="2724912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7"/>
            </a:solidFill>
            <a:prstDash val="solid"/>
          </a:ln>
          <a:effectLst>
            <a:outerShdw sx="100000" sy="100000" kx="0" ky="0" algn="bl" rotWithShape="0" blurRad="76200" dist="25400" dir="16200000">
              <a:srgbClr val="1E2761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89904" y="1444752"/>
            <a:ext cx="2724912" cy="50292"/>
          </a:xfrm>
          <a:prstGeom prst="rect">
            <a:avLst/>
          </a:prstGeom>
          <a:solidFill>
            <a:srgbClr val="3D6FE8"/>
          </a:solidFill>
          <a:ln w="12700">
            <a:solidFill>
              <a:srgbClr val="3D6F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99632" y="1499616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6FE8"/>
                </a:solidFill>
              </a:rPr>
              <a:t>Ferramentas Python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99632" y="1865376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4B"/>
                </a:solidFill>
              </a:rPr>
              <a:t>pandas-profiling / ydata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99632" y="2084832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561"/>
                </a:solidFill>
              </a:rPr>
              <a:t>Relatório HTML automático com distribuições, correlações, valores únicos e alertas de qualidade.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199632" y="2569464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4B"/>
                </a:solidFill>
              </a:rPr>
              <a:t>matplotlib / seaborn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99632" y="2788920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561"/>
                </a:solidFill>
              </a:rPr>
              <a:t>Controle total de visualizações; seaborn facilita plots estatísticos (pairplot, violinplot).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199632" y="3273552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4B"/>
                </a:solidFill>
              </a:rPr>
              <a:t>Plotly / Altair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199632" y="3493008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561"/>
                </a:solidFill>
              </a:rPr>
              <a:t>Visualizações interativas; Altair usa gramática declarativa (Vega-Lite).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199632" y="3977640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4B"/>
                </a:solidFill>
              </a:rPr>
              <a:t>sweetviz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99632" y="4197096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561"/>
                </a:solidFill>
              </a:rPr>
              <a:t>EDA comparativa entre conjuntos treino/teste — útil para detectar data drift.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47472" y="4709160"/>
            <a:ext cx="8449056" cy="91440"/>
          </a:xfrm>
          <a:prstGeom prst="rect">
            <a:avLst/>
          </a:prstGeom>
          <a:solidFill>
            <a:srgbClr val="C8D0E7"/>
          </a:solidFill>
          <a:ln w="12700">
            <a:solidFill>
              <a:srgbClr val="C8D0E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48646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4CC"/>
                </a:solidFill>
              </a:rPr>
              <a:t>Prof. Dan Lopes  ·  CEUB  ·  Ciência de Dados  ·  Manipulação de Dados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D6FE8"/>
          </a:solidFill>
          <a:ln w="12700">
            <a:solidFill>
              <a:srgbClr val="3D6F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292608" cy="5079492"/>
          </a:xfrm>
          <a:prstGeom prst="rect">
            <a:avLst/>
          </a:prstGeom>
          <a:solidFill>
            <a:srgbClr val="2A3B82"/>
          </a:solidFill>
          <a:ln w="12700">
            <a:solidFill>
              <a:srgbClr val="2A3B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Boas Práticas &amp; Síntese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804672"/>
            <a:ext cx="7772400" cy="16459"/>
          </a:xfrm>
          <a:prstGeom prst="rect">
            <a:avLst/>
          </a:prstGeom>
          <a:solidFill>
            <a:srgbClr val="0EA5B0"/>
          </a:solidFill>
          <a:ln w="12700">
            <a:solidFill>
              <a:srgbClr val="0EA5B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969264"/>
            <a:ext cx="8275320" cy="667512"/>
          </a:xfrm>
          <a:prstGeom prst="rect">
            <a:avLst/>
          </a:prstGeom>
          <a:solidFill>
            <a:srgbClr val="1A2D52"/>
          </a:solidFill>
          <a:ln w="10160">
            <a:solidFill>
              <a:srgbClr val="3D6FE8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16200000">
              <a:srgbClr val="1E2761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097280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6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0332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Reprodutibilidade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97280" y="1298448"/>
            <a:ext cx="7516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4CC"/>
                </a:solidFill>
              </a:rPr>
              <a:t>Documente cada etapa. Use notebooks versionados (Git), ambientes virtuais (conda/venv) e seeds fixas para operações aleatórias.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1746504"/>
            <a:ext cx="8275320" cy="667512"/>
          </a:xfrm>
          <a:prstGeom prst="rect">
            <a:avLst/>
          </a:prstGeom>
          <a:solidFill>
            <a:srgbClr val="1A2D52"/>
          </a:solidFill>
          <a:ln w="10160">
            <a:solidFill>
              <a:srgbClr val="0EA5B0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16200000">
              <a:srgbClr val="1E2761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" y="1874520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1810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Separação treino/teste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097280" y="2075688"/>
            <a:ext cx="7516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4CC"/>
                </a:solidFill>
              </a:rPr>
              <a:t>Sempre aplique transformações (fit) apenas no conjunto de treino e transforme (transform) treino e teste separadamente — evita data leakage.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2523744"/>
            <a:ext cx="8275320" cy="667512"/>
          </a:xfrm>
          <a:prstGeom prst="rect">
            <a:avLst/>
          </a:prstGeom>
          <a:solidFill>
            <a:srgbClr val="1A2D52"/>
          </a:solidFill>
          <a:ln w="10160">
            <a:solidFill>
              <a:srgbClr val="3D6FE8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16200000">
              <a:srgbClr val="1E2761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" y="2651760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6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25877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Automatize pipelines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097280" y="2852928"/>
            <a:ext cx="7516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4CC"/>
                </a:solidFill>
              </a:rPr>
              <a:t>Prefira sklearn.Pipeline / Apache Beam / Airflow a scripts avulsos. Pipelines automatizados são testáveis, monitoráveis e reprodutíveis.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3300984"/>
            <a:ext cx="8275320" cy="667512"/>
          </a:xfrm>
          <a:prstGeom prst="rect">
            <a:avLst/>
          </a:prstGeom>
          <a:solidFill>
            <a:srgbClr val="1A2D52"/>
          </a:solidFill>
          <a:ln w="10160">
            <a:solidFill>
              <a:srgbClr val="0EA5B0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16200000">
              <a:srgbClr val="1E2761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1792" y="3429000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97280" y="33649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Documente decisões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097280" y="3630168"/>
            <a:ext cx="7516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4CC"/>
                </a:solidFill>
              </a:rPr>
              <a:t>Registre o porquê de cada escolha (qual imputer, qual scaler). Use data dictionaries e READMEs — a próxima pessoa que ler pode ser você em 6 meses.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4078224"/>
            <a:ext cx="8275320" cy="667512"/>
          </a:xfrm>
          <a:prstGeom prst="rect">
            <a:avLst/>
          </a:prstGeom>
          <a:solidFill>
            <a:srgbClr val="1A2D52"/>
          </a:solidFill>
          <a:ln w="10160">
            <a:solidFill>
              <a:srgbClr val="D4A017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16200000">
              <a:srgbClr val="1E2761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21792" y="4206240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97280" y="41422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Monitore drift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097280" y="4407408"/>
            <a:ext cx="7516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4CC"/>
                </a:solidFill>
              </a:rPr>
              <a:t>Dados do mundo real mudam. Use ferramentas como Evidently AI ou WhyLogs para detectar mudança de distribuição em produção (data drift / concept drift).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51D52"/>
          </a:solidFill>
          <a:ln w="12700">
            <a:solidFill>
              <a:srgbClr val="151D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4CC"/>
                </a:solidFill>
              </a:rPr>
              <a:t>Prof. Dan Lopes  ·  Centro Universitário de Brasília  ·  Ciência de Dados  ·  2025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Manipulação de Dados para Ciência de Dados</dc:title>
  <dc:subject>PptxGenJS Presentation</dc:subject>
  <dc:creator>Prof. Dan Lopes</dc:creator>
  <cp:lastModifiedBy>Prof. Dan Lopes</cp:lastModifiedBy>
  <cp:revision>1</cp:revision>
  <dcterms:created xsi:type="dcterms:W3CDTF">2026-03-12T23:53:09Z</dcterms:created>
  <dcterms:modified xsi:type="dcterms:W3CDTF">2026-03-12T23:53:09Z</dcterms:modified>
</cp:coreProperties>
</file>